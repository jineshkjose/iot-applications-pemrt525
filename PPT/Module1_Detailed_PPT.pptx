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20116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0233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90525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0F0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-731520"/>
            <a:ext cx="4114800" cy="41148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766560" y="2011680"/>
            <a:ext cx="2743200" cy="2743200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5486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AND APPLICATIONS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11480" y="100584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411480" y="1965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to IoT Technology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11480" y="2633472"/>
            <a:ext cx="4114800" cy="27432"/>
          </a:xfrm>
          <a:prstGeom prst="rect">
            <a:avLst/>
          </a:prstGeom>
          <a:solidFill>
            <a:srgbClr val="00B0F0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278892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B4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Hours: 9  |  CO1 (K2): Understand IoT fundamentals and architecture modelling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" y="32004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JECC  |  S5  |  PEMRT525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11480" y="3749040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2E74B5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749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[TB1] Bahga &amp; Madisetti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87752" y="3749040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2E74B5"/>
          </a:solidFill>
          <a:ln/>
        </p:spPr>
      </p:sp>
      <p:sp>
        <p:nvSpPr>
          <p:cNvPr id="24" name="Text 22"/>
          <p:cNvSpPr/>
          <p:nvPr/>
        </p:nvSpPr>
        <p:spPr>
          <a:xfrm>
            <a:off x="2587752" y="3749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[TB2] Cisco Press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64024" y="3749040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2E74B5"/>
          </a:solidFill>
          <a:ln/>
        </p:spPr>
      </p:sp>
      <p:sp>
        <p:nvSpPr>
          <p:cNvPr id="26" name="Text 24"/>
          <p:cNvSpPr/>
          <p:nvPr/>
        </p:nvSpPr>
        <p:spPr>
          <a:xfrm>
            <a:off x="4764024" y="3749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[TB3] Raj Kamal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40296" y="3749040"/>
            <a:ext cx="2011680" cy="292608"/>
          </a:xfrm>
          <a:prstGeom prst="roundRect">
            <a:avLst>
              <a:gd name="adj" fmla="val 15625"/>
            </a:avLst>
          </a:prstGeom>
          <a:solidFill>
            <a:srgbClr val="2E74B5"/>
          </a:solidFill>
          <a:ln/>
        </p:spPr>
      </p:sp>
      <p:sp>
        <p:nvSpPr>
          <p:cNvPr id="28" name="Text 26"/>
          <p:cNvSpPr/>
          <p:nvPr/>
        </p:nvSpPr>
        <p:spPr>
          <a:xfrm>
            <a:off x="6940296" y="37490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[REF1] Al-Fuqaha et al.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0" name="Text 28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MODULE OVERVIEW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Topics Covered in Module 1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74320" y="1234440"/>
            <a:ext cx="4206240" cy="621792"/>
          </a:xfrm>
          <a:prstGeom prst="roundRect">
            <a:avLst>
              <a:gd name="adj" fmla="val 10294"/>
            </a:avLst>
          </a:prstGeom>
          <a:solidFill>
            <a:srgbClr val="1F4E79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380744"/>
            <a:ext cx="329184" cy="329184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3807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04672" y="130759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Definitions &amp; Characteristics of IoT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1581912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hrs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1984248"/>
            <a:ext cx="4206240" cy="621792"/>
          </a:xfrm>
          <a:prstGeom prst="roundRect">
            <a:avLst>
              <a:gd name="adj" fmla="val 10294"/>
            </a:avLst>
          </a:prstGeom>
          <a:solidFill>
            <a:srgbClr val="2E74B5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130552"/>
            <a:ext cx="329184" cy="329184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1305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4672" y="2057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Architectural View (3-layer, 5-layer, CISCO 7-level)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4672" y="2331720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hrs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734056"/>
            <a:ext cx="4206240" cy="621792"/>
          </a:xfrm>
          <a:prstGeom prst="roundRect">
            <a:avLst>
              <a:gd name="adj" fmla="val 10294"/>
            </a:avLst>
          </a:prstGeom>
          <a:solidFill>
            <a:srgbClr val="02809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880360"/>
            <a:ext cx="329184" cy="329184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28803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" y="280720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Design of IoT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04672" y="3081528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 hr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3483864"/>
            <a:ext cx="4206240" cy="621792"/>
          </a:xfrm>
          <a:prstGeom prst="roundRect">
            <a:avLst>
              <a:gd name="adj" fmla="val 10294"/>
            </a:avLst>
          </a:prstGeom>
          <a:solidFill>
            <a:srgbClr val="1565C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3630168"/>
            <a:ext cx="329184" cy="329184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36301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4672" y="3557016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Design — IoT Functional Blocks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04672" y="3831336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hrs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54880" y="1234440"/>
            <a:ext cx="4114800" cy="621792"/>
          </a:xfrm>
          <a:prstGeom prst="roundRect">
            <a:avLst>
              <a:gd name="adj" fmla="val 10294"/>
            </a:avLst>
          </a:prstGeom>
          <a:solidFill>
            <a:srgbClr val="0277BD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1380744"/>
            <a:ext cx="329184" cy="329184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13807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285232" y="130759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Communication Models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85232" y="1581912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 hr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1984248"/>
            <a:ext cx="4114800" cy="621792"/>
          </a:xfrm>
          <a:prstGeom prst="roundRect">
            <a:avLst>
              <a:gd name="adj" fmla="val 10294"/>
            </a:avLst>
          </a:prstGeom>
          <a:solidFill>
            <a:srgbClr val="00695C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46320" y="2130552"/>
            <a:ext cx="329184" cy="329184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21305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285232" y="20574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Enabling Technologies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285232" y="2331720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hrs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54880" y="2734056"/>
            <a:ext cx="4114800" cy="621792"/>
          </a:xfrm>
          <a:prstGeom prst="roundRect">
            <a:avLst>
              <a:gd name="adj" fmla="val 10294"/>
            </a:avLst>
          </a:prstGeom>
          <a:solidFill>
            <a:srgbClr val="1B5E2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846320" y="2880360"/>
            <a:ext cx="329184" cy="329184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40" name="Text 38"/>
          <p:cNvSpPr/>
          <p:nvPr/>
        </p:nvSpPr>
        <p:spPr>
          <a:xfrm>
            <a:off x="4846320" y="28803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85232" y="280720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Levels &amp; Deployment Templates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285232" y="3081528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 hr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4" name="Text 42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20116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0233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90525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1: DEFINITIONS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Internet of Things?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274320" y="1170432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00B0F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4320" y="1170432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Equation (McEwen):  Physical Object  +  Controller / Sensor / Actuator  +  Internet  =  Internet of Things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1920240"/>
            <a:ext cx="2788920" cy="2633472"/>
          </a:xfrm>
          <a:prstGeom prst="roundRect">
            <a:avLst>
              <a:gd name="adj" fmla="val 2778"/>
            </a:avLst>
          </a:prstGeom>
          <a:solidFill>
            <a:srgbClr val="1A3557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1920240"/>
            <a:ext cx="2788920" cy="292608"/>
          </a:xfrm>
          <a:prstGeom prst="roundRect">
            <a:avLst>
              <a:gd name="adj" fmla="val 25000"/>
            </a:avLst>
          </a:prstGeom>
          <a:solidFill>
            <a:srgbClr val="4A90D9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" y="1920240"/>
            <a:ext cx="2788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[TB3] Raj Kamal, p.2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84048" y="2286000"/>
            <a:ext cx="2578608" cy="2176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network of physical things sending, receiving, or communicating information using the Internet, enabling monitoring, coordinating or controlling across the network."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46120" y="1920240"/>
            <a:ext cx="2788920" cy="2633472"/>
          </a:xfrm>
          <a:prstGeom prst="roundRect">
            <a:avLst>
              <a:gd name="adj" fmla="val 2778"/>
            </a:avLst>
          </a:prstGeom>
          <a:solidFill>
            <a:srgbClr val="1A3557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1920240"/>
            <a:ext cx="2788920" cy="292608"/>
          </a:xfrm>
          <a:prstGeom prst="roundRect">
            <a:avLst>
              <a:gd name="adj" fmla="val 25000"/>
            </a:avLst>
          </a:prstGeom>
          <a:solidFill>
            <a:srgbClr val="4A90D9"/>
          </a:solidFill>
          <a:ln/>
        </p:spPr>
      </p:sp>
      <p:sp>
        <p:nvSpPr>
          <p:cNvPr id="23" name="Text 21"/>
          <p:cNvSpPr/>
          <p:nvPr/>
        </p:nvSpPr>
        <p:spPr>
          <a:xfrm>
            <a:off x="3246120" y="1920240"/>
            <a:ext cx="2788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[TB2] Cisco Press, Ch.1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55848" y="2286000"/>
            <a:ext cx="2578608" cy="2176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technology transition in which devices allow us to sense and control the physical world. The basic premise of IoT is to connect the unconnected."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0" y="1920240"/>
            <a:ext cx="2788920" cy="2633472"/>
          </a:xfrm>
          <a:prstGeom prst="roundRect">
            <a:avLst>
              <a:gd name="adj" fmla="val 2778"/>
            </a:avLst>
          </a:prstGeom>
          <a:solidFill>
            <a:srgbClr val="1A3557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0" y="1920240"/>
            <a:ext cx="2788920" cy="292608"/>
          </a:xfrm>
          <a:prstGeom prst="roundRect">
            <a:avLst>
              <a:gd name="adj" fmla="val 25000"/>
            </a:avLst>
          </a:prstGeom>
          <a:solidFill>
            <a:srgbClr val="4A90D9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0" y="1920240"/>
            <a:ext cx="2788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[REF1] Al-Fuqaha et al., IEEE 2015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27648" y="2286000"/>
            <a:ext cx="2578608" cy="2176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IoT enables physical objects to see, hear, think and perform jobs by having them talk together — transforming traditional objects into smart objects."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0" name="Text 28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1: VISION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Vision &amp; Conceptual Frameworks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74320" y="1207008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207008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Vision: Everyday things become "smart" — sensing, computing, communicating through embedded devices, interacting with remote systems and people via Internet or NFC.  [TB3, p.3]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810512"/>
            <a:ext cx="4206240" cy="1874520"/>
          </a:xfrm>
          <a:prstGeom prst="roundRect">
            <a:avLst>
              <a:gd name="adj" fmla="val 3902"/>
            </a:avLst>
          </a:prstGeom>
          <a:solidFill>
            <a:srgbClr val="1F4E79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84048" y="1874520"/>
            <a:ext cx="39867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🌂  Smart Umbrella  [TB3, pp.3-4]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4048" y="2231136"/>
            <a:ext cx="39867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circuit connects to weather website each morning. Analyses forecast. Alerts owner: RED LED = hot/sunny, YELLOW LED = rainy. Sends SMS to mobile. No human involvement needed.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09160" y="1810512"/>
            <a:ext cx="4206240" cy="1874520"/>
          </a:xfrm>
          <a:prstGeom prst="roundRect">
            <a:avLst>
              <a:gd name="adj" fmla="val 3902"/>
            </a:avLst>
          </a:prstGeom>
          <a:solidFill>
            <a:srgbClr val="02809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18888" y="1874520"/>
            <a:ext cx="39867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Smart Streetlights  [TB3, Fig.1.1]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18888" y="2231136"/>
            <a:ext cx="39867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streetlights per group connect to controller via ZigBee. Controller links to central station via Internet. Station monitors faults, traffic, ambient light and remotely programs controllers.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767328"/>
            <a:ext cx="2788920" cy="822960"/>
          </a:xfrm>
          <a:prstGeom prst="roundRect">
            <a:avLst>
              <a:gd name="adj" fmla="val 6667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3767328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McEwen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" y="4005072"/>
            <a:ext cx="2578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 + Sensor/Controller + Internet = IoT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84048" y="4352544"/>
            <a:ext cx="2578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device scale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46120" y="3767328"/>
            <a:ext cx="2788920" cy="822960"/>
          </a:xfrm>
          <a:prstGeom prst="roundRect">
            <a:avLst>
              <a:gd name="adj" fmla="val 6667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46120" y="3767328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55848" y="4005072"/>
            <a:ext cx="2578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→ Enrich → Stream → Manage → Acquire → Organise &amp; Analyse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55848" y="4352544"/>
            <a:ext cx="2578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Multi-device enterprise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17920" y="3767328"/>
            <a:ext cx="2788920" cy="822960"/>
          </a:xfrm>
          <a:prstGeom prst="roundRect">
            <a:avLst>
              <a:gd name="adj" fmla="val 6667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767328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27648" y="4005072"/>
            <a:ext cx="25786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→ Consolidate → Connect → Collect → Assemble → Manage &amp; Analyse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327648" y="4352544"/>
            <a:ext cx="2578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Cloud IoT platform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9" name="Text 27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1: CHARACTERISTICS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 of IoT Systems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56032" y="1207008"/>
            <a:ext cx="2029968" cy="1389888"/>
          </a:xfrm>
          <a:prstGeom prst="roundRect">
            <a:avLst>
              <a:gd name="adj" fmla="val 5263"/>
            </a:avLst>
          </a:prstGeom>
          <a:solidFill>
            <a:srgbClr val="1F4E79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" y="1298448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&amp;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Self-Adapting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" y="1709928"/>
            <a:ext cx="184708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 behaviour automatically based on context — no human intervention. [TB3; REF1]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50592" y="1207008"/>
            <a:ext cx="2029968" cy="1389888"/>
          </a:xfrm>
          <a:prstGeom prst="roundRect">
            <a:avLst>
              <a:gd name="adj" fmla="val 5263"/>
            </a:avLst>
          </a:prstGeom>
          <a:solidFill>
            <a:srgbClr val="2E74B5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42032" y="1298448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42032" y="1709928"/>
            <a:ext cx="184708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 configure themselves for network operation — plug-and-play. [TB3]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45152" y="1207008"/>
            <a:ext cx="2029968" cy="1389888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36592" y="1298448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Interoperable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36592" y="1709928"/>
            <a:ext cx="184708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standard protocols (MQTT, CoAP, HTTP, ZigBee) for cross-manufacturer compatibility. [REF1]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39712" y="1207008"/>
            <a:ext cx="2029968" cy="1389888"/>
          </a:xfrm>
          <a:prstGeom prst="roundRect">
            <a:avLst>
              <a:gd name="adj" fmla="val 5263"/>
            </a:avLst>
          </a:prstGeom>
          <a:solidFill>
            <a:srgbClr val="1565C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31152" y="1298448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31152" y="1709928"/>
            <a:ext cx="184708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device has a globally unique ID — IPv6 address or RFID/EPC code. [TB3, p.2]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" y="2715768"/>
            <a:ext cx="2029968" cy="1389888"/>
          </a:xfrm>
          <a:prstGeom prst="roundRect">
            <a:avLst>
              <a:gd name="adj" fmla="val 5263"/>
            </a:avLst>
          </a:prstGeom>
          <a:solidFill>
            <a:srgbClr val="6A0DAD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47472" y="2807208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Large-Scale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" y="3218688"/>
            <a:ext cx="184708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billion+ devices by 2020. Requires scalable IPv6 and cloud infrastructure. [TB2]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450592" y="2715768"/>
            <a:ext cx="2029968" cy="1389888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542032" y="2807208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Sensing &amp;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42032" y="3218688"/>
            <a:ext cx="184708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measure physical parameters; actuators perform physical actions. [TB3, p.14]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45152" y="2715768"/>
            <a:ext cx="2029968" cy="1389888"/>
          </a:xfrm>
          <a:prstGeom prst="roundRect">
            <a:avLst>
              <a:gd name="adj" fmla="val 5263"/>
            </a:avLst>
          </a:prstGeom>
          <a:solidFill>
            <a:srgbClr val="0277BD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36592" y="2807208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Ubiquitous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Exchange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36592" y="3218688"/>
            <a:ext cx="184708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"Anywhere, anytime" connectivity — continuous data exchange. [REF1]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839712" y="2715768"/>
            <a:ext cx="2029968" cy="1389888"/>
          </a:xfrm>
          <a:prstGeom prst="roundRect">
            <a:avLst>
              <a:gd name="adj" fmla="val 5263"/>
            </a:avLst>
          </a:prstGeom>
          <a:solidFill>
            <a:srgbClr val="00695C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931152" y="2807208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3218688"/>
            <a:ext cx="184708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MCU + AI/ML for autonomous decisions without cloud round-trip. [TB2]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3" name="Text 31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20116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0233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90525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2: ARCHITECTURE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Three-Layer IoT Architecture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2286000" y="1207008"/>
            <a:ext cx="4572000" cy="960120"/>
          </a:xfrm>
          <a:prstGeom prst="rect">
            <a:avLst/>
          </a:prstGeom>
          <a:solidFill>
            <a:srgbClr val="00B0F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34840" y="2167128"/>
            <a:ext cx="274320" cy="155448"/>
          </a:xfrm>
          <a:prstGeom prst="rect">
            <a:avLst/>
          </a:prstGeom>
          <a:solidFill>
            <a:srgbClr val="00B0F0"/>
          </a:solidFill>
          <a:ln/>
        </p:spPr>
      </p:sp>
      <p:sp>
        <p:nvSpPr>
          <p:cNvPr id="17" name="Text 15"/>
          <p:cNvSpPr/>
          <p:nvPr/>
        </p:nvSpPr>
        <p:spPr>
          <a:xfrm>
            <a:off x="2286000" y="120700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LAYER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377440" y="1536192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home apps • Healthcare dashboards • Industrial SCADA • City control systems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0" y="2322576"/>
            <a:ext cx="4572000" cy="960120"/>
          </a:xfrm>
          <a:prstGeom prst="rect">
            <a:avLst/>
          </a:prstGeom>
          <a:solidFill>
            <a:srgbClr val="2E74B5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34840" y="3282696"/>
            <a:ext cx="274320" cy="155448"/>
          </a:xfrm>
          <a:prstGeom prst="rect">
            <a:avLst/>
          </a:prstGeom>
          <a:solidFill>
            <a:srgbClr val="00B0F0"/>
          </a:solidFill>
          <a:ln/>
        </p:spPr>
      </p:sp>
      <p:sp>
        <p:nvSpPr>
          <p:cNvPr id="21" name="Text 19"/>
          <p:cNvSpPr/>
          <p:nvPr/>
        </p:nvSpPr>
        <p:spPr>
          <a:xfrm>
            <a:off x="2286000" y="2322576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LAYER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377440" y="265176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(802.11) • 4G/5G • ZigBee • BLE • LoRa • Ethernet • TCP/IP • IPv6 • Gateways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86000" y="3438144"/>
            <a:ext cx="4572000" cy="960120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286000" y="3438144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 LAYER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377440" y="3767328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DHT11 • PIR sensor • GPS • Accelerometer • RFID • Relay • DC motor • Solenoid valve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37160" y="1371600"/>
            <a:ext cx="19202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Data Flow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(Perception to Application)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86600" y="1371600"/>
            <a:ext cx="19202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Flow →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(Application to Actuators)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74320" y="44348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AA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[TB3] Raj Kamal, Ch.1, pp.9-12  |  Source: Raj Kamal "Internet of Things: Architecture and Design Principles", McGraw Hill, 2022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0" name="Text 28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2: ARCHITECTURE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Five-Layer &amp; CISCO Seven-Level Architecture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4320" y="1207008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Five-Layer Architecture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1600200"/>
            <a:ext cx="4023360" cy="530352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84048" y="160020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Business Layer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77440" y="160020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management &amp; business decisions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194560"/>
            <a:ext cx="4023360" cy="530352"/>
          </a:xfrm>
          <a:prstGeom prst="rect">
            <a:avLst/>
          </a:prstGeom>
          <a:solidFill>
            <a:srgbClr val="2E74B5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84048" y="219456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Application Layer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219456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Domain-specific apps (smart home, healthcare)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788920"/>
            <a:ext cx="4023360" cy="530352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4048" y="278892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Processing Layer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77440" y="278892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Cloud, databases, big data analytics (Hadoop, Spark)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383280"/>
            <a:ext cx="4023360" cy="530352"/>
          </a:xfrm>
          <a:prstGeom prst="rect">
            <a:avLst/>
          </a:prstGeom>
          <a:solidFill>
            <a:srgbClr val="1565C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84048" y="338328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Transport Layer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77440" y="338328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Wi-Fi, 4G, ZigBee, Ethernet, BLE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3977640"/>
            <a:ext cx="4023360" cy="530352"/>
          </a:xfrm>
          <a:prstGeom prst="rect">
            <a:avLst/>
          </a:prstGeom>
          <a:solidFill>
            <a:srgbClr val="0277BD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84048" y="397764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Perception Layer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77440" y="397764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&amp; actuators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0" y="1207008"/>
            <a:ext cx="4343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7-Level Reference Model  [TB3, Fig.1.4]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1600200"/>
            <a:ext cx="4297680" cy="33832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1600200"/>
            <a:ext cx="411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L7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83480" y="1600200"/>
            <a:ext cx="22860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Collaboration &amp; Processes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269480" y="1600200"/>
            <a:ext cx="1554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workflow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0" y="1993392"/>
            <a:ext cx="4297680" cy="338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1993392"/>
            <a:ext cx="411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1993392"/>
            <a:ext cx="22860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269480" y="1993392"/>
            <a:ext cx="1554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&amp; control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0" y="2386584"/>
            <a:ext cx="4297680" cy="338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0" y="2386584"/>
            <a:ext cx="411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83480" y="2386584"/>
            <a:ext cx="22860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Abstraction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269480" y="2386584"/>
            <a:ext cx="1554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Aggregation &amp; access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0" y="2779776"/>
            <a:ext cx="4297680" cy="33832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0" y="2779776"/>
            <a:ext cx="411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983480" y="2779776"/>
            <a:ext cx="22860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Accumulation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269480" y="2779776"/>
            <a:ext cx="1554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0" y="3172968"/>
            <a:ext cx="4297680" cy="338328"/>
          </a:xfrm>
          <a:prstGeom prst="rect">
            <a:avLst/>
          </a:prstGeom>
          <a:solidFill>
            <a:srgbClr val="0277B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0" y="3172968"/>
            <a:ext cx="411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983480" y="3172968"/>
            <a:ext cx="22860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Computing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269480" y="3172968"/>
            <a:ext cx="1554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data analysis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572000" y="3566160"/>
            <a:ext cx="4297680" cy="338328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0" y="3566160"/>
            <a:ext cx="411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83480" y="3566160"/>
            <a:ext cx="22860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Connectivity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269480" y="3566160"/>
            <a:ext cx="1554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Gateways &amp; routers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572000" y="3959352"/>
            <a:ext cx="4297680" cy="338328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0" y="3959352"/>
            <a:ext cx="411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983480" y="3959352"/>
            <a:ext cx="22860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Devices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269480" y="3959352"/>
            <a:ext cx="15544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&amp; controllers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4" name="Text 52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20116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0233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90525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3: PHYSICAL DESIGN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of an IoT Node  [TB3, Raj Kamal, Fig.1.6]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3291840" y="1188720"/>
            <a:ext cx="2560320" cy="1965960"/>
          </a:xfrm>
          <a:prstGeom prst="roundRect">
            <a:avLst>
              <a:gd name="adj" fmla="val 4651"/>
            </a:avLst>
          </a:prstGeom>
          <a:solidFill>
            <a:srgbClr val="1F4E79"/>
          </a:solidFill>
          <a:ln w="12700">
            <a:solidFill>
              <a:srgbClr val="00B0F0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291840" y="118872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MCU / PROCESSOR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83280" y="1554480"/>
            <a:ext cx="23774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 Core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  |  Flash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Timers  |  UART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  |  I2C  |  GPIO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ADC  |  PWM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82880" y="1188720"/>
            <a:ext cx="2011680" cy="1389888"/>
          </a:xfrm>
          <a:prstGeom prst="roundRect">
            <a:avLst>
              <a:gd name="adj" fmla="val 4605"/>
            </a:avLst>
          </a:prstGeom>
          <a:solidFill>
            <a:srgbClr val="2E74B5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56032" y="1252728"/>
            <a:ext cx="18653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6032" y="1508760"/>
            <a:ext cx="186537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Analog: Thermistor, LDR, Pressure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Digital: PIR, Touch, Proximity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[TB3, p.14]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82880" y="2834640"/>
            <a:ext cx="2011680" cy="1389888"/>
          </a:xfrm>
          <a:prstGeom prst="roundRect">
            <a:avLst>
              <a:gd name="adj" fmla="val 4605"/>
            </a:avLst>
          </a:prstGeom>
          <a:solidFill>
            <a:srgbClr val="02809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56032" y="2898648"/>
            <a:ext cx="18653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ACTUATORS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6032" y="3154680"/>
            <a:ext cx="186537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Motor, Servo Motor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Relay, Solenoid Valve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LED, Buzzer, LCD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35040" y="1188720"/>
            <a:ext cx="2011680" cy="1389888"/>
          </a:xfrm>
          <a:prstGeom prst="roundRect">
            <a:avLst>
              <a:gd name="adj" fmla="val 4605"/>
            </a:avLst>
          </a:prstGeom>
          <a:solidFill>
            <a:srgbClr val="2E74B5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08192" y="1252728"/>
            <a:ext cx="18653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 MODULE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08192" y="1508760"/>
            <a:ext cx="186537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 (ESP8266/ESP32)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ZigBee (XBee)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BLE, LoRa, 4G, NFC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[TB3, p.15]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35040" y="2834640"/>
            <a:ext cx="2011680" cy="1389888"/>
          </a:xfrm>
          <a:prstGeom prst="roundRect">
            <a:avLst>
              <a:gd name="adj" fmla="val 4605"/>
            </a:avLst>
          </a:prstGeom>
          <a:solidFill>
            <a:srgbClr val="02809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108192" y="2898648"/>
            <a:ext cx="18653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UNIT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08192" y="3154680"/>
            <a:ext cx="186537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Li-ion / LiPo battery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panel + MPPT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Mains 3.3V / 5V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harvesting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91840" y="4315968"/>
            <a:ext cx="2560320" cy="566928"/>
          </a:xfrm>
          <a:prstGeom prst="roundRect">
            <a:avLst>
              <a:gd name="adj" fmla="val 11290"/>
            </a:avLst>
          </a:prstGeom>
          <a:solidFill>
            <a:srgbClr val="1565C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364992" y="4379976"/>
            <a:ext cx="2414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/ FIRMWARE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364992" y="4636008"/>
            <a:ext cx="241401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RIOT OS  |  Contiki  |  FreeRTOS  |  Raspbian  [TB3, p.15]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194560" y="1920240"/>
            <a:ext cx="1097280" cy="9144"/>
          </a:xfrm>
          <a:prstGeom prst="line">
            <a:avLst/>
          </a:prstGeom>
          <a:noFill/>
          <a:ln w="12700">
            <a:solidFill>
              <a:srgbClr val="00B0F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4023360" y="3154680"/>
            <a:ext cx="9144" cy="1161288"/>
          </a:xfrm>
          <a:prstGeom prst="line">
            <a:avLst/>
          </a:prstGeom>
          <a:noFill/>
          <a:ln w="12700">
            <a:solidFill>
              <a:srgbClr val="00B0F0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937760" y="1920240"/>
            <a:ext cx="1097280" cy="9144"/>
          </a:xfrm>
          <a:prstGeom prst="line">
            <a:avLst/>
          </a:prstGeom>
          <a:noFill/>
          <a:ln w="12700">
            <a:solidFill>
              <a:srgbClr val="00B0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8092440" y="1874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Internet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8" name="Text 36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3: PLATFORMS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Popular IoT Development Platforms  [TB3, §1.5, pp.19-21]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74320" y="1207008"/>
            <a:ext cx="2788920" cy="1554480"/>
          </a:xfrm>
          <a:prstGeom prst="roundRect">
            <a:avLst>
              <a:gd name="adj" fmla="val 4706"/>
            </a:avLst>
          </a:prstGeom>
          <a:solidFill>
            <a:srgbClr val="1F4E79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84048" y="1298448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Arduino Yún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" y="1609344"/>
            <a:ext cx="256946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ATmega32u4 + Atheros AR9331 Linux module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Wi-Fi, Ethernet, USB, micro-SD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analog + 20 digital I/O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73552" y="1207008"/>
            <a:ext cx="2788920" cy="1554480"/>
          </a:xfrm>
          <a:prstGeom prst="roundRect">
            <a:avLst>
              <a:gd name="adj" fmla="val 4706"/>
            </a:avLst>
          </a:prstGeom>
          <a:solidFill>
            <a:srgbClr val="2E74B5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83280" y="1298448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1609344"/>
            <a:ext cx="256946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ARM-based Linux SBC (Raspbian OS)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40-pin GPIO (UART, SPI, I2C)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USB, HDMI, Ethernet, Camera port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1207008"/>
            <a:ext cx="2788920" cy="1554480"/>
          </a:xfrm>
          <a:prstGeom prst="roundRect">
            <a:avLst>
              <a:gd name="adj" fmla="val 470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82512" y="1298448"/>
            <a:ext cx="2569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BeagleBone Black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82512" y="1609344"/>
            <a:ext cx="256946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 Cortex-A8, 512 MB RAM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GPIO, 7 analog, 2 SPI, 2 I2C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Android &amp; Linux. Low power.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926080"/>
            <a:ext cx="4251960" cy="1554480"/>
          </a:xfrm>
          <a:prstGeom prst="roundRect">
            <a:avLst>
              <a:gd name="adj" fmla="val 4706"/>
            </a:avLst>
          </a:prstGeom>
          <a:solidFill>
            <a:srgbClr val="1565C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84048" y="3017520"/>
            <a:ext cx="40325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Galileo/Edison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4048" y="3328416"/>
            <a:ext cx="403250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Arduino-certified, Intel x86 Quark SoC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digital I/O, 12-bit PWM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analog inputs, UART, SPI, I2C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17720" y="2926080"/>
            <a:ext cx="4251960" cy="1554480"/>
          </a:xfrm>
          <a:prstGeom prst="roundRect">
            <a:avLst>
              <a:gd name="adj" fmla="val 4706"/>
            </a:avLst>
          </a:prstGeom>
          <a:solidFill>
            <a:srgbClr val="6A0DAD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27448" y="3017520"/>
            <a:ext cx="40325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 / NodeMCU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27448" y="3328416"/>
            <a:ext cx="403250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Dual-core 240 MHz, 4 MB Flash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Wi-Fi + BLE/Bluetooth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GPIO, ADC, DAC, Touch pins. ~₹350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4" name="Text 22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20116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0233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90525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4: LOGICAL DESIGN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Functional Blocks  [TB1, Bahga &amp; Madisetti, Ch.1]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274320" y="1207008"/>
            <a:ext cx="8595360" cy="530352"/>
          </a:xfrm>
          <a:prstGeom prst="rect">
            <a:avLst/>
          </a:prstGeom>
          <a:solidFill>
            <a:srgbClr val="00B0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207008"/>
            <a:ext cx="8595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1828800"/>
            <a:ext cx="2651760" cy="530352"/>
          </a:xfrm>
          <a:prstGeom prst="rect">
            <a:avLst/>
          </a:prstGeom>
          <a:solidFill>
            <a:srgbClr val="2E74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828800"/>
            <a:ext cx="2651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017520" y="1828800"/>
            <a:ext cx="3108960" cy="530352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0" y="18288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1828800"/>
            <a:ext cx="2651760" cy="530352"/>
          </a:xfrm>
          <a:prstGeom prst="rect">
            <a:avLst/>
          </a:prstGeom>
          <a:solidFill>
            <a:srgbClr val="1565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1828800"/>
            <a:ext cx="2651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2450592"/>
            <a:ext cx="8595360" cy="475488"/>
          </a:xfrm>
          <a:prstGeom prst="rect">
            <a:avLst/>
          </a:prstGeom>
          <a:solidFill>
            <a:srgbClr val="243B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450592"/>
            <a:ext cx="8595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(Device APIs / Firmware)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3017520"/>
            <a:ext cx="859536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3017520"/>
            <a:ext cx="8595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 (Sensors + Actuators + Local Control)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74320" y="3584448"/>
            <a:ext cx="8595360" cy="2743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8" name="Text 26"/>
          <p:cNvSpPr/>
          <p:nvPr/>
        </p:nvSpPr>
        <p:spPr>
          <a:xfrm>
            <a:off x="274320" y="358444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BLOCK  —  Authentication  |  Authorisation  |  Encryption (TLS/DTLS)  |  Data Integrity  (Cross-cutting across all blocks)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74320" y="3977640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Device: 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74320" y="4178808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node — senses &amp; actuates the physical world.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468880" y="3977640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Resource: 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68880" y="4178808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Firmware APIs exposing device functions to network.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663440" y="3977640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Communication: 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663440" y="4178808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/ CoAP / HTTP — device-to-cloud data exchange.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58000" y="3977640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Services: 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58000" y="4178808"/>
            <a:ext cx="2029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monitoring, data publish/subscribe, discovery.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4320" y="4407408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Management: 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74320" y="4608576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 updates, remote config, fault management.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246120" y="4407408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Application: 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246120" y="4608576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Dashboard, analytics, remote control for end users.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217920" y="4407408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 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217920" y="4608576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Auth, encryption, integrity — protects all other blocks.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4" name="Text 42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5: COMM MODELS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Communication Models  [TB1; REF1, Al-Fuqaha et al.]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74320" y="1188720"/>
            <a:ext cx="4206240" cy="1691640"/>
          </a:xfrm>
          <a:prstGeom prst="roundRect">
            <a:avLst>
              <a:gd name="adj" fmla="val 4324"/>
            </a:avLst>
          </a:prstGeom>
          <a:solidFill>
            <a:srgbClr val="1F4E79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84048" y="1261872"/>
            <a:ext cx="3986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Request-Response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" y="1591056"/>
            <a:ext cx="39867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──[Request]──▶ Server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──[Response]──▶ Client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2103120"/>
            <a:ext cx="3986784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| HTTP, CoAP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On-demand queries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Limit: Polling overhead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188720"/>
            <a:ext cx="4206240" cy="1691640"/>
          </a:xfrm>
          <a:prstGeom prst="roundRect">
            <a:avLst>
              <a:gd name="adj" fmla="val 4324"/>
            </a:avLst>
          </a:prstGeom>
          <a:solidFill>
            <a:srgbClr val="2E74B5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18888" y="1261872"/>
            <a:ext cx="3986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Publish-Subscribe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18888" y="1591056"/>
            <a:ext cx="39867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Publisher ──[topic]──▶ BROKER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 ──[fan-out]──▶ Subscribers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18888" y="2103120"/>
            <a:ext cx="3986784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| MQTT, AMQP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Real-time streaming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Limit: Needs broker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017520"/>
            <a:ext cx="4206240" cy="1691640"/>
          </a:xfrm>
          <a:prstGeom prst="roundRect">
            <a:avLst>
              <a:gd name="adj" fmla="val 4324"/>
            </a:avLst>
          </a:prstGeom>
          <a:solidFill>
            <a:srgbClr val="02809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84048" y="3090672"/>
            <a:ext cx="3986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Push-Pull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84048" y="3419856"/>
            <a:ext cx="39867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──[push]──▶ QUEUE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──[pull]──▶ Consumer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3931920"/>
            <a:ext cx="3986784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| Kafka, RabbitMQ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Data pipelines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Limit: Queue latency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3017520"/>
            <a:ext cx="4206240" cy="1691640"/>
          </a:xfrm>
          <a:prstGeom prst="roundRect">
            <a:avLst>
              <a:gd name="adj" fmla="val 4324"/>
            </a:avLst>
          </a:prstGeom>
          <a:solidFill>
            <a:srgbClr val="1565C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18888" y="3090672"/>
            <a:ext cx="3986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Exclusive Pair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18888" y="3419856"/>
            <a:ext cx="39867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◀══[full-duplex]══▶ Server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(Persistent TCP connection)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18888" y="3931920"/>
            <a:ext cx="3986784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| WebSocket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Interactive control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Limit: Stateful, hard to scale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5" name="Text 23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20116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0233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90525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5: MQTT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— The Primary IoT Messaging Protocol  [REF1; TB3, Ch.3]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274320" y="120700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1A3557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4048" y="1280160"/>
            <a:ext cx="38953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MQTT?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4048" y="1664208"/>
            <a:ext cx="3895344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Queue Telemetry Transport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Lightweight publish-subscribe protocol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Runs over TCP/IP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Minimum 2-byte fixed header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Designed for constrained devices and unreliable, low-bandwidth networks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Standardised by OASIS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Default port: 1883  (8883 for TLS)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0" y="1207008"/>
            <a:ext cx="4297680" cy="1444752"/>
          </a:xfrm>
          <a:prstGeom prst="roundRect">
            <a:avLst>
              <a:gd name="adj" fmla="val 5063"/>
            </a:avLst>
          </a:prstGeom>
          <a:solidFill>
            <a:srgbClr val="1F4E79"/>
          </a:solidFill>
          <a:ln w="12700">
            <a:solidFill>
              <a:srgbClr val="00B0F0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681728" y="1280160"/>
            <a:ext cx="40782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of Service (QoS) Levels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81728" y="1627632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0B0F0"/>
          </a:solidFill>
          <a:ln/>
        </p:spPr>
      </p:sp>
      <p:sp>
        <p:nvSpPr>
          <p:cNvPr id="21" name="Text 19"/>
          <p:cNvSpPr/>
          <p:nvPr/>
        </p:nvSpPr>
        <p:spPr>
          <a:xfrm>
            <a:off x="4681728" y="16276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QoS 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0" y="1627632"/>
            <a:ext cx="3127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most once — fire and forget. No guarantee.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81728" y="1938528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0B0F0"/>
          </a:solidFill>
          <a:ln/>
        </p:spPr>
      </p:sp>
      <p:sp>
        <p:nvSpPr>
          <p:cNvPr id="24" name="Text 22"/>
          <p:cNvSpPr/>
          <p:nvPr/>
        </p:nvSpPr>
        <p:spPr>
          <a:xfrm>
            <a:off x="4681728" y="1938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QoS 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669280" y="1938528"/>
            <a:ext cx="3127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least once — guaranteed delivery, possible duplicates.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81728" y="2249424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0B0F0"/>
          </a:solidFill>
          <a:ln/>
        </p:spPr>
      </p:sp>
      <p:sp>
        <p:nvSpPr>
          <p:cNvPr id="27" name="Text 25"/>
          <p:cNvSpPr/>
          <p:nvPr/>
        </p:nvSpPr>
        <p:spPr>
          <a:xfrm>
            <a:off x="4681728" y="224942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QoS 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69280" y="2249424"/>
            <a:ext cx="3127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once — guaranteed delivery, no duplicates.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743200"/>
            <a:ext cx="4297680" cy="1755648"/>
          </a:xfrm>
          <a:prstGeom prst="roundRect">
            <a:avLst>
              <a:gd name="adj" fmla="val 4167"/>
            </a:avLst>
          </a:prstGeom>
          <a:solidFill>
            <a:srgbClr val="1F4E79"/>
          </a:solidFill>
          <a:ln w="12700">
            <a:solidFill>
              <a:srgbClr val="00B0F0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681728" y="2816352"/>
            <a:ext cx="4078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681728" y="3108960"/>
            <a:ext cx="4078224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Last Will &amp; Testament (LWT): Broker notifies all subscribers if device disconnects abnormally.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Retained Messages: Broker stores last message — new subscribers receive it immediately.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Clean Session: Option to clear all subscriptions on reconnect.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Keep-Alive: Heartbeat mechanism to detect broken connections.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3" name="Text 31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6: ENABLING TECH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Enabling Technologies — Part 1  [TB3; REF1]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56032" y="1207008"/>
            <a:ext cx="2816352" cy="3547872"/>
          </a:xfrm>
          <a:prstGeom prst="roundRect">
            <a:avLst>
              <a:gd name="adj" fmla="val 2597"/>
            </a:avLst>
          </a:prstGeom>
          <a:solidFill>
            <a:srgbClr val="1F4E79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280160"/>
            <a:ext cx="259689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Wireless Sensor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Networks (WSN)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737360"/>
            <a:ext cx="2596896" cy="2944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of autonomous sensor nodes monitoring physical conditions and cooperatively forwarding data to a sink/gateway.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= Sensing unit + MCU + Radio transceiver + Power unit.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Standard: IEEE 802.15.4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Routing: RPL protocol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Applications: Agriculture, environmental monitoring, structural health.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55264" y="1207008"/>
            <a:ext cx="2816352" cy="3547872"/>
          </a:xfrm>
          <a:prstGeom prst="roundRect">
            <a:avLst>
              <a:gd name="adj" fmla="val 2597"/>
            </a:avLst>
          </a:prstGeom>
          <a:solidFill>
            <a:srgbClr val="2E74B5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64992" y="1280160"/>
            <a:ext cx="259689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Computing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64992" y="1737360"/>
            <a:ext cx="2596896" cy="2944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 infrastructure for IoT data storage, processing, and analytics.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IaaS: AWS EC2, Azure VMs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PaaS: AWS IoT Core, Azure IoT Hub, IBM Watson IoT, ThingSpeak, Nimbits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SaaS: Ready-to-use analytics dashboards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ThingSpeak: Open platform with MATLAB analytics. Integrates with Arduino &amp; RPi.  [TB3, p.18]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54496" y="1207008"/>
            <a:ext cx="2816352" cy="3547872"/>
          </a:xfrm>
          <a:prstGeom prst="roundRect">
            <a:avLst>
              <a:gd name="adj" fmla="val 2597"/>
            </a:avLst>
          </a:prstGeom>
          <a:solidFill>
            <a:srgbClr val="02809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64224" y="1280160"/>
            <a:ext cx="259689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Data Analytics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64224" y="1737360"/>
            <a:ext cx="2596896" cy="2944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generates massive data Volume, high Velocity, multiple Variety.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Hadoop (HDFS + MapReduce): Batch processing of stored IoT data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Apache Spark: In-memory stream analytics — 10-100× faster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Apache Kafka: Real-time event streaming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GROK (Numenta): Machine intelligence for IoT anomaly detection  [TB3, p.13]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8" name="Text 16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20116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0233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90525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6: ENABLING TECH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Enabling Technologies — Part 2  [TB3; REF1]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256032" y="1207008"/>
            <a:ext cx="2816352" cy="3547872"/>
          </a:xfrm>
          <a:prstGeom prst="roundRect">
            <a:avLst>
              <a:gd name="adj" fmla="val 2597"/>
            </a:avLst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280160"/>
            <a:ext cx="259689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 &amp; NFC  [TB3, p.2; REF1]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1737360"/>
            <a:ext cx="2596896" cy="2944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RFID: Tag (passive/active) contains EPC code; reader detects wirelessly.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Passive: Reader-powered. Range: 10 m. Freq: 125 kHz / 13.56 MHz / 860-960 MHz.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Active: Battery. Range: 100 m. Asset tracking.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NFC: &lt;20 cm, 13.56 MHz. Contactless payment, device pairing, access control.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Applications: Supply chain, inventory, library, animal tagging, tap-to-pay.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55264" y="1207008"/>
            <a:ext cx="2816352" cy="3547872"/>
          </a:xfrm>
          <a:prstGeom prst="roundRect">
            <a:avLst>
              <a:gd name="adj" fmla="val 2597"/>
            </a:avLst>
          </a:prstGeom>
          <a:solidFill>
            <a:srgbClr val="2E74B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364992" y="1280160"/>
            <a:ext cx="259689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&amp; 6LoWPAN  [TB3, p.13; REF1]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64992" y="1737360"/>
            <a:ext cx="2596896" cy="2944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IPv4 exhausted (only 4.3B addresses). IPv6: 128-bit = 3.4×10³⁸ addresses.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6LoWPAN (RFC 4944): Bridges IPv6 with IEEE 802.15.4 (max 127-byte frames).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Header Compression: 40-byte IPv6 → 2-3 bytes (95% reduction)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Fragmentation: Splits large IPv6 packets into 802.15.4 frames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Mesh Addressing: Multi-hop networking for WSN topologies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54496" y="1207008"/>
            <a:ext cx="2816352" cy="3547872"/>
          </a:xfrm>
          <a:prstGeom prst="roundRect">
            <a:avLst>
              <a:gd name="adj" fmla="val 2597"/>
            </a:avLst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64224" y="1280160"/>
            <a:ext cx="259689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Systems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Protocols  [TB3, pp.14-18]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64224" y="1737360"/>
            <a:ext cx="2596896" cy="2944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MCUs: ATmega328, ARM Cortex-M0/M3/M4, ESP32, STM32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RTOS: FreeRTOS, RIOT OS — deterministic real-time scheduling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Arduino: Open C/C++ platform — most popular for IoT prototyping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Eclipse IoT: Open-source MQTT, CoAP, OMA-LWM2M implementation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Protocols: MQTT, CoAP, HTTP, AMQP, XMPP, WebSocket  [REF1, §V]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5" name="Text 23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7: IoT LEVELS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Deployment Levels 1–3  [TB1, Bahga &amp; Madisetti, Ch.1]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56032" y="1207008"/>
            <a:ext cx="2816352" cy="3520440"/>
          </a:xfrm>
          <a:prstGeom prst="roundRect">
            <a:avLst>
              <a:gd name="adj" fmla="val 2597"/>
            </a:avLst>
          </a:prstGeom>
          <a:solidFill>
            <a:srgbClr val="1F4E79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7472" y="1316736"/>
            <a:ext cx="329184" cy="329184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" y="131673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9808" y="1316736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Node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Analysis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47472" y="1792224"/>
            <a:ext cx="2633472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" y="1792224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[Node] → Local Analysis → Actuator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Internet required)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505456"/>
            <a:ext cx="25968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2715768"/>
            <a:ext cx="25968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device, all intelligence on-board. No cloud.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5760" y="3255264"/>
            <a:ext cx="25968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3438144"/>
            <a:ext cx="2596896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thermostat — senses temperature, controls HVAC relay directly.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55264" y="1207008"/>
            <a:ext cx="2816352" cy="3520440"/>
          </a:xfrm>
          <a:prstGeom prst="roundRect">
            <a:avLst>
              <a:gd name="adj" fmla="val 2597"/>
            </a:avLst>
          </a:prstGeom>
          <a:solidFill>
            <a:srgbClr val="2E74B5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346704" y="1316736"/>
            <a:ext cx="329184" cy="329184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20" name="Text 18"/>
          <p:cNvSpPr/>
          <p:nvPr/>
        </p:nvSpPr>
        <p:spPr>
          <a:xfrm>
            <a:off x="3346704" y="131673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749040" y="1316736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Node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Analysis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46704" y="1792224"/>
            <a:ext cx="2633472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3419856" y="1792224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4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[Node] → Internet → [Cloud] → [Dashboard]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64992" y="2505456"/>
            <a:ext cx="25968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364992" y="2715768"/>
            <a:ext cx="25968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device. Data sent to cloud for analysis and storage.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364992" y="3255264"/>
            <a:ext cx="25968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364992" y="3438144"/>
            <a:ext cx="2596896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weather station uploading temperature to ThingSpeak every 5 minutes.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54496" y="1207008"/>
            <a:ext cx="2816352" cy="3520440"/>
          </a:xfrm>
          <a:prstGeom prst="roundRect">
            <a:avLst>
              <a:gd name="adj" fmla="val 2597"/>
            </a:avLst>
          </a:prstGeom>
          <a:solidFill>
            <a:srgbClr val="028090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45936" y="1316736"/>
            <a:ext cx="329184" cy="329184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30" name="Text 28"/>
          <p:cNvSpPr/>
          <p:nvPr/>
        </p:nvSpPr>
        <p:spPr>
          <a:xfrm>
            <a:off x="6345936" y="131673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748272" y="1316736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Node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+ Big Data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345936" y="1792224"/>
            <a:ext cx="2633472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6419088" y="1792224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[Node] → [Cloud] → [Hadoop/Spark/ML] → [Insights]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64224" y="2505456"/>
            <a:ext cx="25968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Feature: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64224" y="2715768"/>
            <a:ext cx="25968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node. Cloud runs big data analytics and machine learning.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364224" y="3255264"/>
            <a:ext cx="25968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64224" y="3438144"/>
            <a:ext cx="2596896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vibration sensor → AWS Spark ML predicts bearing failure 72 hrs ahead.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9" name="Text 37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20116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0233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90525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7: IoT LEVELS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Deployment Levels 4–6  [TB1, Bahga &amp; Madisetti, Ch.1]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256032" y="1207008"/>
            <a:ext cx="2816352" cy="3520440"/>
          </a:xfrm>
          <a:prstGeom prst="roundRect">
            <a:avLst>
              <a:gd name="adj" fmla="val 2597"/>
            </a:avLst>
          </a:prstGeom>
          <a:solidFill>
            <a:srgbClr val="1F4E79"/>
          </a:solidFill>
          <a:ln w="12700">
            <a:solidFill>
              <a:srgbClr val="00B0F0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7472" y="1316736"/>
            <a:ext cx="329184" cy="329184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" y="131673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9808" y="1316736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Multi-Node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Analysis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7472" y="1792224"/>
            <a:ext cx="2633472" cy="713232"/>
          </a:xfrm>
          <a:prstGeom prst="roundRect">
            <a:avLst>
              <a:gd name="adj" fmla="val 6410"/>
            </a:avLst>
          </a:prstGeom>
          <a:solidFill>
            <a:srgbClr val="162032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1792224"/>
            <a:ext cx="24871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[Node 1] ─┐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[Node 2] ─┼─▶ [Cloud] ─▶ [App]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[Node N] ─┘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65760" y="2596896"/>
            <a:ext cx="25968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2807208"/>
            <a:ext cx="2596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independent nodes, each connecting directly to cloud. No gateway.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65760" y="3364992"/>
            <a:ext cx="25968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3547872"/>
            <a:ext cx="2596896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parking: each bay sensor reports to cloud independently. Cloud shows availability.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55264" y="1207008"/>
            <a:ext cx="2816352" cy="3520440"/>
          </a:xfrm>
          <a:prstGeom prst="roundRect">
            <a:avLst>
              <a:gd name="adj" fmla="val 2597"/>
            </a:avLst>
          </a:prstGeom>
          <a:solidFill>
            <a:srgbClr val="1565C0"/>
          </a:solidFill>
          <a:ln w="12700">
            <a:solidFill>
              <a:srgbClr val="00B0F0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346704" y="1316736"/>
            <a:ext cx="329184" cy="329184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27" name="Text 25"/>
          <p:cNvSpPr/>
          <p:nvPr/>
        </p:nvSpPr>
        <p:spPr>
          <a:xfrm>
            <a:off x="3346704" y="131673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49040" y="1316736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Multi-Node +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+ Cloud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346704" y="1792224"/>
            <a:ext cx="2633472" cy="713232"/>
          </a:xfrm>
          <a:prstGeom prst="roundRect">
            <a:avLst>
              <a:gd name="adj" fmla="val 6410"/>
            </a:avLst>
          </a:prstGeom>
          <a:solidFill>
            <a:srgbClr val="162032"/>
          </a:solidFill>
          <a:ln/>
        </p:spPr>
      </p:sp>
      <p:sp>
        <p:nvSpPr>
          <p:cNvPr id="30" name="Text 28"/>
          <p:cNvSpPr/>
          <p:nvPr/>
        </p:nvSpPr>
        <p:spPr>
          <a:xfrm>
            <a:off x="3419856" y="1792224"/>
            <a:ext cx="24871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[Nodes] ─ZigBee─▶ [Gateway] ─Internet─▶ [Cloud] ─▶ [App]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364992" y="2596896"/>
            <a:ext cx="25968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364992" y="2807208"/>
            <a:ext cx="2596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Nodes use ZigBee/BLE to gateway. Gateway aggregates and pre-processes before cloud upload.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364992" y="3364992"/>
            <a:ext cx="25968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364992" y="3547872"/>
            <a:ext cx="2596896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Agricultural WSN: 50 soil sensors → ZigBee → RPi gateway → hourly averages to cloud.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54496" y="1207008"/>
            <a:ext cx="2816352" cy="3520440"/>
          </a:xfrm>
          <a:prstGeom prst="roundRect">
            <a:avLst>
              <a:gd name="adj" fmla="val 2597"/>
            </a:avLst>
          </a:prstGeom>
          <a:solidFill>
            <a:srgbClr val="6A0DAD"/>
          </a:solidFill>
          <a:ln w="12700">
            <a:solidFill>
              <a:srgbClr val="00B0F0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345936" y="1316736"/>
            <a:ext cx="329184" cy="329184"/>
          </a:xfrm>
          <a:prstGeom prst="ellipse">
            <a:avLst/>
          </a:prstGeom>
          <a:solidFill>
            <a:srgbClr val="00B0F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5936" y="131673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748272" y="1316736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Multi-System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Scale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345936" y="1792224"/>
            <a:ext cx="2633472" cy="713232"/>
          </a:xfrm>
          <a:prstGeom prst="roundRect">
            <a:avLst>
              <a:gd name="adj" fmla="val 6410"/>
            </a:avLst>
          </a:prstGeom>
          <a:solidFill>
            <a:srgbClr val="162032"/>
          </a:solidFill>
          <a:ln/>
        </p:spPr>
      </p:sp>
      <p:sp>
        <p:nvSpPr>
          <p:cNvPr id="40" name="Text 38"/>
          <p:cNvSpPr/>
          <p:nvPr/>
        </p:nvSpPr>
        <p:spPr>
          <a:xfrm>
            <a:off x="6419088" y="1792224"/>
            <a:ext cx="24871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[Traffic Cloud]─┐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[Energy Cloud] ─┼─▶ [Central Cloud + Big Data] ─▶ [Dashboard]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00B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[Water Cloud] ─┘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364224" y="2596896"/>
            <a:ext cx="25968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Feature: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64224" y="2807208"/>
            <a:ext cx="2596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independent IoT systems with own clouds, integrated by a central big data platform.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364224" y="3364992"/>
            <a:ext cx="25968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64224" y="3547872"/>
            <a:ext cx="2596896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city: traffic + energy + water + safety IoT systems integrated for city-wide analytics.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6" name="Text 44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7: SUMMARY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Levels — Quick Comparison  [TB1, Bahga &amp; Madisetti]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91440" y="1207008"/>
            <a:ext cx="457200" cy="38404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7"/>
          <p:cNvSpPr/>
          <p:nvPr/>
        </p:nvSpPr>
        <p:spPr>
          <a:xfrm>
            <a:off x="91440" y="120700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207008"/>
            <a:ext cx="1828800" cy="38404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207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377440" y="1207008"/>
            <a:ext cx="1097280" cy="38404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3" name="Text 11"/>
          <p:cNvSpPr/>
          <p:nvPr/>
        </p:nvSpPr>
        <p:spPr>
          <a:xfrm>
            <a:off x="2377440" y="120700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1207008"/>
            <a:ext cx="1371600" cy="38404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20700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1207008"/>
            <a:ext cx="731520" cy="38404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1207008"/>
            <a:ext cx="731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577840" y="1207008"/>
            <a:ext cx="3474720" cy="38404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9" name="Text 17"/>
          <p:cNvSpPr/>
          <p:nvPr/>
        </p:nvSpPr>
        <p:spPr>
          <a:xfrm>
            <a:off x="5577840" y="1207008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" y="1591056"/>
            <a:ext cx="45720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6304" y="1591056"/>
            <a:ext cx="347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1591056"/>
            <a:ext cx="182880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159105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Node, Local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377440" y="1591056"/>
            <a:ext cx="109728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32304" y="1591056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node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74720" y="1591056"/>
            <a:ext cx="137160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9584" y="1591056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46320" y="1591056"/>
            <a:ext cx="73152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01184" y="1591056"/>
            <a:ext cx="621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577840" y="1591056"/>
            <a:ext cx="347472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32704" y="1591056"/>
            <a:ext cx="3364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thermostat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1440" y="2048256"/>
            <a:ext cx="457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6304" y="2048256"/>
            <a:ext cx="347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2048256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" y="204825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Node + Cloud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377440" y="2048256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32304" y="2048256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node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474720" y="2048256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9584" y="2048256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46320" y="2048256"/>
            <a:ext cx="731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01184" y="2048256"/>
            <a:ext cx="621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577840" y="2048256"/>
            <a:ext cx="3474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32704" y="2048256"/>
            <a:ext cx="3364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weather station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1440" y="2505456"/>
            <a:ext cx="45720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46304" y="2505456"/>
            <a:ext cx="347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48640" y="2505456"/>
            <a:ext cx="182880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250545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+ Big Data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377440" y="2505456"/>
            <a:ext cx="109728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32304" y="2505456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node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474720" y="2505456"/>
            <a:ext cx="137160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9584" y="2505456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+ ML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846320" y="2505456"/>
            <a:ext cx="73152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01184" y="2505456"/>
            <a:ext cx="621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577840" y="2505456"/>
            <a:ext cx="347472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32704" y="2505456"/>
            <a:ext cx="3364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vibration monitor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91440" y="2962656"/>
            <a:ext cx="457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46304" y="2962656"/>
            <a:ext cx="347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48640" y="2962656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3504" y="296265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Multi-Node + Cloud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2377440" y="2962656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32304" y="2962656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3474720" y="2962656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529584" y="2962656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846320" y="2962656"/>
            <a:ext cx="731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01184" y="2962656"/>
            <a:ext cx="621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577840" y="2962656"/>
            <a:ext cx="3474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632704" y="2962656"/>
            <a:ext cx="3364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parking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91440" y="3419856"/>
            <a:ext cx="45720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46304" y="3419856"/>
            <a:ext cx="347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48640" y="3419856"/>
            <a:ext cx="182880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03504" y="341985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Multi-Node + Gateway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2377440" y="3419856"/>
            <a:ext cx="109728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432304" y="3419856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+ GW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3474720" y="3419856"/>
            <a:ext cx="137160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529584" y="3419856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+ Cloud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4846320" y="3419856"/>
            <a:ext cx="73152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901184" y="3419856"/>
            <a:ext cx="621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5577840" y="3419856"/>
            <a:ext cx="3474720" cy="457200"/>
          </a:xfrm>
          <a:prstGeom prst="rect">
            <a:avLst/>
          </a:prstGeom>
          <a:solidFill>
            <a:srgbClr val="E8F0F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632704" y="3419856"/>
            <a:ext cx="3364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Agricultural WSN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91440" y="3877056"/>
            <a:ext cx="457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6304" y="3877056"/>
            <a:ext cx="347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548640" y="3877056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03504" y="3877056"/>
            <a:ext cx="1719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Multi-System City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2377440" y="3877056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432304" y="3877056"/>
            <a:ext cx="987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Multi-systems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3474720" y="3877056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529584" y="3877056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+ Big Data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4846320" y="3877056"/>
            <a:ext cx="731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01184" y="3877056"/>
            <a:ext cx="621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5577840" y="3877056"/>
            <a:ext cx="3474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632704" y="3877056"/>
            <a:ext cx="3364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platform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91440" y="4224528"/>
            <a:ext cx="8961120" cy="54864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/>
        </p:spPr>
      </p:sp>
      <p:sp>
        <p:nvSpPr>
          <p:cNvPr id="93" name="Text 91"/>
          <p:cNvSpPr/>
          <p:nvPr/>
        </p:nvSpPr>
        <p:spPr>
          <a:xfrm>
            <a:off x="201168" y="4224528"/>
            <a:ext cx="87416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L1→L2 (add cloud) | L2→L3 (add big data) | L3→L4 (add more nodes) | L4→L5 (add gateway) | L5→L6 (add system integration)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5" name="Text 93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20116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0233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90525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TOPIC 6: PROTOCOLS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Communication Protocols Compared  [REF1, Al-Fuqaha et al.; TB3, Ch.3]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228600" y="1207008"/>
            <a:ext cx="1280160" cy="384048"/>
          </a:xfrm>
          <a:prstGeom prst="rect">
            <a:avLst/>
          </a:prstGeom>
          <a:solidFill>
            <a:srgbClr val="00B0F0"/>
          </a:solidFill>
          <a:ln/>
        </p:spPr>
      </p:sp>
      <p:sp>
        <p:nvSpPr>
          <p:cNvPr id="16" name="Text 14"/>
          <p:cNvSpPr/>
          <p:nvPr/>
        </p:nvSpPr>
        <p:spPr>
          <a:xfrm>
            <a:off x="228600" y="120700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508760" y="1207008"/>
            <a:ext cx="1188720" cy="384048"/>
          </a:xfrm>
          <a:prstGeom prst="rect">
            <a:avLst/>
          </a:prstGeom>
          <a:solidFill>
            <a:srgbClr val="00B0F0"/>
          </a:solidFill>
          <a:ln/>
        </p:spPr>
      </p:sp>
      <p:sp>
        <p:nvSpPr>
          <p:cNvPr id="18" name="Text 16"/>
          <p:cNvSpPr/>
          <p:nvPr/>
        </p:nvSpPr>
        <p:spPr>
          <a:xfrm>
            <a:off x="1508760" y="1207008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697480" y="1207008"/>
            <a:ext cx="1828800" cy="384048"/>
          </a:xfrm>
          <a:prstGeom prst="rect">
            <a:avLst/>
          </a:prstGeom>
          <a:solidFill>
            <a:srgbClr val="00B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697480" y="12070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Overhead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26280" y="1207008"/>
            <a:ext cx="1371600" cy="384048"/>
          </a:xfrm>
          <a:prstGeom prst="rect">
            <a:avLst/>
          </a:prstGeom>
          <a:solidFill>
            <a:srgbClr val="00B0F0"/>
          </a:solidFill>
          <a:ln/>
        </p:spPr>
      </p:sp>
      <p:sp>
        <p:nvSpPr>
          <p:cNvPr id="22" name="Text 20"/>
          <p:cNvSpPr/>
          <p:nvPr/>
        </p:nvSpPr>
        <p:spPr>
          <a:xfrm>
            <a:off x="4526280" y="120700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897880" y="1207008"/>
            <a:ext cx="3200400" cy="384048"/>
          </a:xfrm>
          <a:prstGeom prst="rect">
            <a:avLst/>
          </a:prstGeom>
          <a:solidFill>
            <a:srgbClr val="00B0F0"/>
          </a:solidFill>
          <a:ln/>
        </p:spPr>
      </p:sp>
      <p:sp>
        <p:nvSpPr>
          <p:cNvPr id="24" name="Text 22"/>
          <p:cNvSpPr/>
          <p:nvPr/>
        </p:nvSpPr>
        <p:spPr>
          <a:xfrm>
            <a:off x="5897880" y="1207008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Use Case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28600" y="1591056"/>
            <a:ext cx="128016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3464" y="159105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508760" y="1591056"/>
            <a:ext cx="118872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63624" y="1591056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TCP/IP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697480" y="1591056"/>
            <a:ext cx="182880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52344" y="1591056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Low (2B header)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26280" y="1591056"/>
            <a:ext cx="137160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1591056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0, 1, 2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897880" y="1591056"/>
            <a:ext cx="320040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52744" y="159105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streaming, home automation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28600" y="2066544"/>
            <a:ext cx="128016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464" y="2066544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CoAP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2066544"/>
            <a:ext cx="118872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563624" y="2066544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UDP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697480" y="2066544"/>
            <a:ext cx="182880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52344" y="2066544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Low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26280" y="2066544"/>
            <a:ext cx="137160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81144" y="2066544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(NON), 1 (CON)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897880" y="2066544"/>
            <a:ext cx="320040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52744" y="2066544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devices (8-bit MCUs)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28600" y="2542032"/>
            <a:ext cx="128016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464" y="2542032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HTTP/REST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2542032"/>
            <a:ext cx="118872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563624" y="2542032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TCP/IP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697480" y="2542032"/>
            <a:ext cx="182880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52344" y="2542032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26280" y="2542032"/>
            <a:ext cx="137160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81144" y="2542032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897880" y="2542032"/>
            <a:ext cx="320040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52744" y="254203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Web-capable devices, APIs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28600" y="3017520"/>
            <a:ext cx="128016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3464" y="3017520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AMQP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1508760" y="3017520"/>
            <a:ext cx="118872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563624" y="30175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TCP/IP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697480" y="3017520"/>
            <a:ext cx="182880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752344" y="30175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Medium-High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526280" y="3017520"/>
            <a:ext cx="137160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81144" y="3017520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897880" y="3017520"/>
            <a:ext cx="320040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952744" y="3017520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IoT, financial sector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228600" y="3493008"/>
            <a:ext cx="128016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83464" y="3493008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XMPP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1508760" y="3493008"/>
            <a:ext cx="118872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563624" y="3493008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TCP/IP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697480" y="3493008"/>
            <a:ext cx="182880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752344" y="3493008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4526280" y="3493008"/>
            <a:ext cx="137160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581144" y="3493008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897880" y="3493008"/>
            <a:ext cx="3200400" cy="475488"/>
          </a:xfrm>
          <a:prstGeom prst="rect">
            <a:avLst/>
          </a:prstGeom>
          <a:solidFill>
            <a:srgbClr val="1A3557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52744" y="349300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Presence-aware IoT systems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228600" y="3968496"/>
            <a:ext cx="128016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83464" y="396849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1508760" y="3968496"/>
            <a:ext cx="118872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563624" y="3968496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TCP/IP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697480" y="3968496"/>
            <a:ext cx="182880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752344" y="3968496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(after handshake)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4526280" y="3968496"/>
            <a:ext cx="137160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81144" y="3968496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5897880" y="3968496"/>
            <a:ext cx="3200400" cy="475488"/>
          </a:xfrm>
          <a:prstGeom prst="rect">
            <a:avLst/>
          </a:prstGeom>
          <a:solidFill>
            <a:srgbClr val="162032"/>
          </a:solidFill>
          <a:ln w="12700">
            <a:solidFill>
              <a:srgbClr val="2A4A6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952744" y="396849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control dashboards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86" name="Text 84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EXAM PREP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Examination Questions — Part A  (3 Marks Each)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56032" y="1207008"/>
            <a:ext cx="4206240" cy="621792"/>
          </a:xfrm>
          <a:prstGeom prst="roundRect">
            <a:avLst>
              <a:gd name="adj" fmla="val 8824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1353312"/>
            <a:ext cx="329184" cy="329184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" y="13533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8096" y="128016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IoT. List any four characteristics with examples.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" y="1920240"/>
            <a:ext cx="4206240" cy="621792"/>
          </a:xfrm>
          <a:prstGeom prst="roundRect">
            <a:avLst>
              <a:gd name="adj" fmla="val 8824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" y="2066544"/>
            <a:ext cx="329184" cy="329184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4" name="Text 12"/>
          <p:cNvSpPr/>
          <p:nvPr/>
        </p:nvSpPr>
        <p:spPr>
          <a:xfrm>
            <a:off x="347472" y="2066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8096" y="199339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four IoT communication models and the protocol used in each.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56032" y="2633472"/>
            <a:ext cx="4206240" cy="621792"/>
          </a:xfrm>
          <a:prstGeom prst="roundRect">
            <a:avLst>
              <a:gd name="adj" fmla="val 8824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472" y="2779776"/>
            <a:ext cx="329184" cy="329184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8" name="Text 16"/>
          <p:cNvSpPr/>
          <p:nvPr/>
        </p:nvSpPr>
        <p:spPr>
          <a:xfrm>
            <a:off x="347472" y="277977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" y="270662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6LoWPAN? Why is it needed for IoT?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6032" y="3346704"/>
            <a:ext cx="4206240" cy="621792"/>
          </a:xfrm>
          <a:prstGeom prst="roundRect">
            <a:avLst>
              <a:gd name="adj" fmla="val 8824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472" y="3493008"/>
            <a:ext cx="329184" cy="329184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349300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68096" y="3419856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Differentiate between Request-Response and Publish-Subscribe models.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6032" y="4059936"/>
            <a:ext cx="4206240" cy="621792"/>
          </a:xfrm>
          <a:prstGeom prst="roundRect">
            <a:avLst>
              <a:gd name="adj" fmla="val 8824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7472" y="4206240"/>
            <a:ext cx="329184" cy="329184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" y="42062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68096" y="413308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the seven IoT functional blocks (Bahga &amp; Madisetti).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36592" y="1207008"/>
            <a:ext cx="4206240" cy="621792"/>
          </a:xfrm>
          <a:prstGeom prst="roundRect">
            <a:avLst>
              <a:gd name="adj" fmla="val 8824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28032" y="1353312"/>
            <a:ext cx="329184" cy="329184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30" name="Text 28"/>
          <p:cNvSpPr/>
          <p:nvPr/>
        </p:nvSpPr>
        <p:spPr>
          <a:xfrm>
            <a:off x="4828032" y="135331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248656" y="128016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IoT Level 1 and Level 2 with examples.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36592" y="1920240"/>
            <a:ext cx="4206240" cy="621792"/>
          </a:xfrm>
          <a:prstGeom prst="roundRect">
            <a:avLst>
              <a:gd name="adj" fmla="val 8824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28032" y="2066544"/>
            <a:ext cx="329184" cy="329184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34" name="Text 32"/>
          <p:cNvSpPr/>
          <p:nvPr/>
        </p:nvSpPr>
        <p:spPr>
          <a:xfrm>
            <a:off x="4828032" y="2066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248656" y="199339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MQTT? State any three key features.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36592" y="2633472"/>
            <a:ext cx="4206240" cy="621792"/>
          </a:xfrm>
          <a:prstGeom prst="roundRect">
            <a:avLst>
              <a:gd name="adj" fmla="val 8824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28032" y="2779776"/>
            <a:ext cx="329184" cy="329184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38" name="Text 36"/>
          <p:cNvSpPr/>
          <p:nvPr/>
        </p:nvSpPr>
        <p:spPr>
          <a:xfrm>
            <a:off x="4828032" y="277977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248656" y="270662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any four IoT enabling technologies with one-line descriptions.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736592" y="3346704"/>
            <a:ext cx="4206240" cy="621792"/>
          </a:xfrm>
          <a:prstGeom prst="roundRect">
            <a:avLst>
              <a:gd name="adj" fmla="val 8824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28032" y="3493008"/>
            <a:ext cx="329184" cy="329184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42" name="Text 40"/>
          <p:cNvSpPr/>
          <p:nvPr/>
        </p:nvSpPr>
        <p:spPr>
          <a:xfrm>
            <a:off x="4828032" y="349300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248656" y="3419856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Differentiate between physical design and logical design of an IoT system.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736592" y="4059936"/>
            <a:ext cx="4206240" cy="621792"/>
          </a:xfrm>
          <a:prstGeom prst="roundRect">
            <a:avLst>
              <a:gd name="adj" fmla="val 8824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828032" y="4206240"/>
            <a:ext cx="329184" cy="329184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46" name="Text 44"/>
          <p:cNvSpPr/>
          <p:nvPr/>
        </p:nvSpPr>
        <p:spPr>
          <a:xfrm>
            <a:off x="4828032" y="42062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248656" y="413308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WSN? What is the role of the gateway node?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9" name="Text 47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20116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0233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90525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EXAM PREP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Examination Questions — Part B  (9 Marks Each)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256032" y="1207008"/>
            <a:ext cx="4206240" cy="777240"/>
          </a:xfrm>
          <a:prstGeom prst="roundRect">
            <a:avLst>
              <a:gd name="adj" fmla="val 8235"/>
            </a:avLst>
          </a:prstGeom>
          <a:solidFill>
            <a:srgbClr val="1A3557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6032" y="1207008"/>
            <a:ext cx="475488" cy="777240"/>
          </a:xfrm>
          <a:prstGeom prst="roundRect">
            <a:avLst>
              <a:gd name="adj" fmla="val 13462"/>
            </a:avLst>
          </a:prstGeom>
          <a:solidFill>
            <a:srgbClr val="00B0F0"/>
          </a:solidFill>
          <a:ln/>
        </p:spPr>
      </p:sp>
      <p:sp>
        <p:nvSpPr>
          <p:cNvPr id="17" name="Text 15"/>
          <p:cNvSpPr/>
          <p:nvPr/>
        </p:nvSpPr>
        <p:spPr>
          <a:xfrm>
            <a:off x="256032" y="1207008"/>
            <a:ext cx="4754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4672" y="1280160"/>
            <a:ext cx="35844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the IoT Architectural View with neat diagrams. Compare 3-layer and 5-layer architectures. Also describe the CISCO 7-level model.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6032" y="2103120"/>
            <a:ext cx="4206240" cy="777240"/>
          </a:xfrm>
          <a:prstGeom prst="roundRect">
            <a:avLst>
              <a:gd name="adj" fmla="val 8235"/>
            </a:avLst>
          </a:prstGeom>
          <a:solidFill>
            <a:srgbClr val="1A3557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56032" y="2103120"/>
            <a:ext cx="475488" cy="777240"/>
          </a:xfrm>
          <a:prstGeom prst="roundRect">
            <a:avLst>
              <a:gd name="adj" fmla="val 13462"/>
            </a:avLst>
          </a:prstGeom>
          <a:solidFill>
            <a:srgbClr val="00B0F0"/>
          </a:solidFill>
          <a:ln/>
        </p:spPr>
      </p:sp>
      <p:sp>
        <p:nvSpPr>
          <p:cNvPr id="21" name="Text 19"/>
          <p:cNvSpPr/>
          <p:nvPr/>
        </p:nvSpPr>
        <p:spPr>
          <a:xfrm>
            <a:off x="256032" y="2103120"/>
            <a:ext cx="4754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" y="2176272"/>
            <a:ext cx="35844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all seven IoT functional blocks with a block diagram and examples for each.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6032" y="2999232"/>
            <a:ext cx="4206240" cy="777240"/>
          </a:xfrm>
          <a:prstGeom prst="roundRect">
            <a:avLst>
              <a:gd name="adj" fmla="val 8235"/>
            </a:avLst>
          </a:prstGeom>
          <a:solidFill>
            <a:srgbClr val="1A3557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56032" y="2999232"/>
            <a:ext cx="475488" cy="777240"/>
          </a:xfrm>
          <a:prstGeom prst="roundRect">
            <a:avLst>
              <a:gd name="adj" fmla="val 13462"/>
            </a:avLst>
          </a:prstGeom>
          <a:solidFill>
            <a:srgbClr val="00B0F0"/>
          </a:solidFill>
          <a:ln/>
        </p:spPr>
      </p:sp>
      <p:sp>
        <p:nvSpPr>
          <p:cNvPr id="25" name="Text 23"/>
          <p:cNvSpPr/>
          <p:nvPr/>
        </p:nvSpPr>
        <p:spPr>
          <a:xfrm>
            <a:off x="256032" y="2999232"/>
            <a:ext cx="4754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4672" y="3072384"/>
            <a:ext cx="35844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the four IoT communication models with diagrams. For each, state protocol, working, and application.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" y="3895344"/>
            <a:ext cx="4206240" cy="777240"/>
          </a:xfrm>
          <a:prstGeom prst="roundRect">
            <a:avLst>
              <a:gd name="adj" fmla="val 8235"/>
            </a:avLst>
          </a:prstGeom>
          <a:solidFill>
            <a:srgbClr val="1A3557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56032" y="3895344"/>
            <a:ext cx="475488" cy="777240"/>
          </a:xfrm>
          <a:prstGeom prst="roundRect">
            <a:avLst>
              <a:gd name="adj" fmla="val 13462"/>
            </a:avLst>
          </a:prstGeom>
          <a:solidFill>
            <a:srgbClr val="00B0F0"/>
          </a:solidFill>
          <a:ln/>
        </p:spPr>
      </p:sp>
      <p:sp>
        <p:nvSpPr>
          <p:cNvPr id="29" name="Text 27"/>
          <p:cNvSpPr/>
          <p:nvPr/>
        </p:nvSpPr>
        <p:spPr>
          <a:xfrm>
            <a:off x="256032" y="3895344"/>
            <a:ext cx="4754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" y="3968496"/>
            <a:ext cx="35844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IoT enabling technologies: WSN, Cloud Computing, Big Data Analytics, RFID, IPv6/6LoWPAN, and Embedded Systems.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18304" y="1207008"/>
            <a:ext cx="4206240" cy="777240"/>
          </a:xfrm>
          <a:prstGeom prst="roundRect">
            <a:avLst>
              <a:gd name="adj" fmla="val 8235"/>
            </a:avLst>
          </a:prstGeom>
          <a:solidFill>
            <a:srgbClr val="1A3557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18304" y="1207008"/>
            <a:ext cx="475488" cy="777240"/>
          </a:xfrm>
          <a:prstGeom prst="roundRect">
            <a:avLst>
              <a:gd name="adj" fmla="val 13462"/>
            </a:avLst>
          </a:prstGeom>
          <a:solidFill>
            <a:srgbClr val="00B0F0"/>
          </a:solidFill>
          <a:ln/>
        </p:spPr>
      </p:sp>
      <p:sp>
        <p:nvSpPr>
          <p:cNvPr id="33" name="Text 31"/>
          <p:cNvSpPr/>
          <p:nvPr/>
        </p:nvSpPr>
        <p:spPr>
          <a:xfrm>
            <a:off x="4718304" y="1207008"/>
            <a:ext cx="4754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266944" y="1280160"/>
            <a:ext cx="35844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IoT Levels 1 to 6 with diagrams and examples. State the key difference between each consecutive level.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18304" y="2103120"/>
            <a:ext cx="4206240" cy="777240"/>
          </a:xfrm>
          <a:prstGeom prst="roundRect">
            <a:avLst>
              <a:gd name="adj" fmla="val 8235"/>
            </a:avLst>
          </a:prstGeom>
          <a:solidFill>
            <a:srgbClr val="1A3557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18304" y="2103120"/>
            <a:ext cx="475488" cy="777240"/>
          </a:xfrm>
          <a:prstGeom prst="roundRect">
            <a:avLst>
              <a:gd name="adj" fmla="val 13462"/>
            </a:avLst>
          </a:prstGeom>
          <a:solidFill>
            <a:srgbClr val="00B0F0"/>
          </a:solidFill>
          <a:ln/>
        </p:spPr>
      </p:sp>
      <p:sp>
        <p:nvSpPr>
          <p:cNvPr id="37" name="Text 35"/>
          <p:cNvSpPr/>
          <p:nvPr/>
        </p:nvSpPr>
        <p:spPr>
          <a:xfrm>
            <a:off x="4718304" y="2103120"/>
            <a:ext cx="4754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266944" y="2176272"/>
            <a:ext cx="35844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physical design of an IoT system. Explain each hardware component with a diagram. List four development platforms.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18304" y="2999232"/>
            <a:ext cx="4206240" cy="777240"/>
          </a:xfrm>
          <a:prstGeom prst="roundRect">
            <a:avLst>
              <a:gd name="adj" fmla="val 8235"/>
            </a:avLst>
          </a:prstGeom>
          <a:solidFill>
            <a:srgbClr val="1A3557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18304" y="2999232"/>
            <a:ext cx="475488" cy="777240"/>
          </a:xfrm>
          <a:prstGeom prst="roundRect">
            <a:avLst>
              <a:gd name="adj" fmla="val 13462"/>
            </a:avLst>
          </a:prstGeom>
          <a:solidFill>
            <a:srgbClr val="00B0F0"/>
          </a:solidFill>
          <a:ln/>
        </p:spPr>
      </p:sp>
      <p:sp>
        <p:nvSpPr>
          <p:cNvPr id="41" name="Text 39"/>
          <p:cNvSpPr/>
          <p:nvPr/>
        </p:nvSpPr>
        <p:spPr>
          <a:xfrm>
            <a:off x="4718304" y="2999232"/>
            <a:ext cx="4754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266944" y="3072384"/>
            <a:ext cx="35844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the characteristics of IoT in detail with real-world examples for each characteristic.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18304" y="3895344"/>
            <a:ext cx="4206240" cy="777240"/>
          </a:xfrm>
          <a:prstGeom prst="roundRect">
            <a:avLst>
              <a:gd name="adj" fmla="val 8235"/>
            </a:avLst>
          </a:prstGeom>
          <a:solidFill>
            <a:srgbClr val="1A3557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718304" y="3895344"/>
            <a:ext cx="475488" cy="777240"/>
          </a:xfrm>
          <a:prstGeom prst="roundRect">
            <a:avLst>
              <a:gd name="adj" fmla="val 13462"/>
            </a:avLst>
          </a:prstGeom>
          <a:solidFill>
            <a:srgbClr val="00B0F0"/>
          </a:solidFill>
          <a:ln/>
        </p:spPr>
      </p:sp>
      <p:sp>
        <p:nvSpPr>
          <p:cNvPr id="45" name="Text 43"/>
          <p:cNvSpPr/>
          <p:nvPr/>
        </p:nvSpPr>
        <p:spPr>
          <a:xfrm>
            <a:off x="4718304" y="3895344"/>
            <a:ext cx="4754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266944" y="3968496"/>
            <a:ext cx="358444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IoT definitions from three textbook perspectives, the IoT vision with examples, and the three conceptual framework equations.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8" name="Text 46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64592"/>
            <a:ext cx="2194560" cy="292608"/>
          </a:xfrm>
          <a:prstGeom prst="roundRect">
            <a:avLst>
              <a:gd name="adj" fmla="val 12500"/>
            </a:avLst>
          </a:prstGeom>
          <a:solidFill>
            <a:srgbClr val="00B0F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64592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</a:rPr>
              <a:t>REFERENCES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50292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Prescribed Textbooks &amp; Reference Materials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56032" y="1207008"/>
            <a:ext cx="8631936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1207008"/>
            <a:ext cx="621792" cy="658368"/>
          </a:xfrm>
          <a:prstGeom prst="roundRect">
            <a:avLst>
              <a:gd name="adj" fmla="val 8824"/>
            </a:avLst>
          </a:prstGeom>
          <a:solidFill>
            <a:srgbClr val="1F4E79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" y="1207008"/>
            <a:ext cx="621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[TB1]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9264" y="1261872"/>
            <a:ext cx="7827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Bahga, A. &amp; Madisetti, V.  —  "Internet of Things: A Hands-on Approach",  VPT, 2014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9264" y="1572768"/>
            <a:ext cx="7827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for: Functional Blocks, Communication Models, IoT Levels 1-6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6032" y="1938528"/>
            <a:ext cx="8631936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 w="12700">
            <a:solidFill>
              <a:srgbClr val="2E74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938528"/>
            <a:ext cx="621792" cy="658368"/>
          </a:xfrm>
          <a:prstGeom prst="roundRect">
            <a:avLst>
              <a:gd name="adj" fmla="val 8824"/>
            </a:avLst>
          </a:prstGeom>
          <a:solidFill>
            <a:srgbClr val="2E74B5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" y="1938528"/>
            <a:ext cx="621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[TB2]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69264" y="1993392"/>
            <a:ext cx="7827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Hanes, Salgueiro et al.  —  "IoT Fundamentals: Networking Technologies, Protocols &amp; Use Cases",  Cisco Press, 2017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69264" y="2304288"/>
            <a:ext cx="7827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for: IoT Definition, Architecture, Smart Objects, MQTT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6032" y="2670048"/>
            <a:ext cx="8631936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" y="2670048"/>
            <a:ext cx="621792" cy="658368"/>
          </a:xfrm>
          <a:prstGeom prst="roundRect">
            <a:avLst>
              <a:gd name="adj" fmla="val 8824"/>
            </a:avLst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256032" y="2670048"/>
            <a:ext cx="621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[TB3]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69264" y="2724912"/>
            <a:ext cx="7827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Raj Kamal  —  "Internet of Things: Architecture and Design Principles",  McGraw Hill India, 2nd Ed., 2022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9264" y="3035808"/>
            <a:ext cx="7827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for: Definitions, Frameworks, Architecture, Physical Design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6032" y="3401568"/>
            <a:ext cx="8631936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6032" y="3401568"/>
            <a:ext cx="621792" cy="658368"/>
          </a:xfrm>
          <a:prstGeom prst="roundRect">
            <a:avLst>
              <a:gd name="adj" fmla="val 8824"/>
            </a:avLst>
          </a:prstGeom>
          <a:solidFill>
            <a:srgbClr val="1565C0"/>
          </a:solidFill>
          <a:ln/>
        </p:spPr>
      </p:sp>
      <p:sp>
        <p:nvSpPr>
          <p:cNvPr id="25" name="Text 23"/>
          <p:cNvSpPr/>
          <p:nvPr/>
        </p:nvSpPr>
        <p:spPr>
          <a:xfrm>
            <a:off x="256032" y="3401568"/>
            <a:ext cx="621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[TB4]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69264" y="3456432"/>
            <a:ext cx="7827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Simon Monk  —  "Raspberry Pi Cookbook: Software and Hardware Problems and Solutions",  O'Reilly/SPD, 2016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69264" y="3767328"/>
            <a:ext cx="7827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for: Raspberry Pi hardware interfacing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032" y="4133088"/>
            <a:ext cx="8631936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 w="12700">
            <a:solidFill>
              <a:srgbClr val="6A0DA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6032" y="4133088"/>
            <a:ext cx="621792" cy="658368"/>
          </a:xfrm>
          <a:prstGeom prst="roundRect">
            <a:avLst>
              <a:gd name="adj" fmla="val 8824"/>
            </a:avLst>
          </a:prstGeom>
          <a:solidFill>
            <a:srgbClr val="6A0DAD"/>
          </a:solidFill>
          <a:ln/>
        </p:spPr>
      </p:sp>
      <p:sp>
        <p:nvSpPr>
          <p:cNvPr id="30" name="Text 28"/>
          <p:cNvSpPr/>
          <p:nvPr/>
        </p:nvSpPr>
        <p:spPr>
          <a:xfrm>
            <a:off x="256032" y="4133088"/>
            <a:ext cx="6217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[REF1]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69264" y="4187952"/>
            <a:ext cx="7827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Al-Fuqaha, Guizani et al.  —  "Internet of Things: A Survey on Enabling Technologies, Protocols &amp; Applications",  IEEE Commun. Surveys &amp; Tutorials, Vol.17, No.4, 2015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69264" y="4498848"/>
            <a:ext cx="7827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for: Enabling Technologies, Protocols, WSN, 6LoWPAN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4" name="Text 32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20116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0233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9052560" y="0"/>
            <a:ext cx="2743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0F0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COMPLETE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11480" y="141732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to IoT Technology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411480" y="2103120"/>
            <a:ext cx="4114800" cy="36576"/>
          </a:xfrm>
          <a:prstGeom prst="rect">
            <a:avLst/>
          </a:prstGeom>
          <a:solidFill>
            <a:srgbClr val="00B0F0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240280"/>
            <a:ext cx="50292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A8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IoT Definitions &amp; Characteristics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A8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3-Layer, 5-Layer, CISCO 7-Level Architecture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A8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Physical Design — IoT Node Components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A8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Logical Design — 7 Functional Blocks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A8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4 Communication Models (MQTT, CoAP, WebSocket)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A8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6 Enabling Technologies (WSN, Cloud, RFID, 6LoWPAN)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A8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IoT Levels 1–6 &amp; Deployment Templates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0" y="2240280"/>
            <a:ext cx="3200400" cy="1645920"/>
          </a:xfrm>
          <a:prstGeom prst="roundRect">
            <a:avLst>
              <a:gd name="adj" fmla="val 5556"/>
            </a:avLst>
          </a:prstGeom>
          <a:solidFill>
            <a:srgbClr val="2E74B5"/>
          </a:solidFill>
          <a:ln/>
          <a:effectLst>
            <a:outerShdw sx="100000" sy="100000" kx="0" ky="0" algn="bl" rotWithShape="0" blurRad="50800" dist="254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760720" y="230428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 to Study Notes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760720" y="2633472"/>
            <a:ext cx="301752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Module1_Complete_Study_Notes.docx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github.com/jineshkjose/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IoT-Applications-PEMRT525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2" name="Text 20"/>
          <p:cNvSpPr/>
          <p:nvPr/>
        </p:nvSpPr>
        <p:spPr>
          <a:xfrm>
            <a:off x="182880" y="4892040"/>
            <a:ext cx="877824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0F0"/>
                </a:solidFill>
              </a:rPr>
              <a:t>IoT and Applications | PEMRT525 | S5 | JECC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and Applications - Module 1</dc:title>
  <dc:subject>PptxGenJS Presentation</dc:subject>
  <dc:creator>PptxGenJS</dc:creator>
  <cp:lastModifiedBy>PptxGenJS</cp:lastModifiedBy>
  <cp:revision>1</cp:revision>
  <dcterms:created xsi:type="dcterms:W3CDTF">2026-06-30T07:46:52Z</dcterms:created>
  <dcterms:modified xsi:type="dcterms:W3CDTF">2026-06-30T07:46:52Z</dcterms:modified>
</cp:coreProperties>
</file>