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297680"/>
            <a:ext cx="9144000" cy="457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343400"/>
            <a:ext cx="9144000" cy="457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0058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Applications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M2M • SDN &amp; NFV • Smart Objects • Sensor Networks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WSN Protocols • Communication Criteria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228600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564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PEMRT525 | KTU | S5 | JECC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858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Contact Hours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Topics at a Glance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298448" cy="1508760"/>
          </a:xfrm>
          <a:prstGeom prst="roundRect">
            <a:avLst>
              <a:gd name="adj" fmla="val 8451"/>
            </a:avLst>
          </a:prstGeom>
          <a:solidFill>
            <a:srgbClr val="1565C0"/>
          </a:solidFill>
          <a:ln/>
          <a:effectLst>
            <a:outerShdw sx="100000" sy="100000" kx="0" ky="0" algn="bl" rotWithShape="0" blurRad="63500" dist="38100" dir="2700000">
              <a:srgbClr val="999999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9326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" y="1307592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64208" y="868680"/>
            <a:ext cx="1298448" cy="1508760"/>
          </a:xfrm>
          <a:prstGeom prst="roundRect">
            <a:avLst>
              <a:gd name="adj" fmla="val 8451"/>
            </a:avLst>
          </a:prstGeom>
          <a:solidFill>
            <a:srgbClr val="1565A0"/>
          </a:solidFill>
          <a:ln/>
          <a:effectLst>
            <a:outerShdw sx="100000" sy="100000" kx="0" ky="0" algn="bl" rotWithShape="0" blurRad="63500" dist="38100" dir="2700000">
              <a:srgbClr val="999999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09928" y="9326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28216" y="1307592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vs M2M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54096" y="868680"/>
            <a:ext cx="1298448" cy="1508760"/>
          </a:xfrm>
          <a:prstGeom prst="roundRect">
            <a:avLst>
              <a:gd name="adj" fmla="val 8451"/>
            </a:avLst>
          </a:prstGeom>
          <a:solidFill>
            <a:srgbClr val="00897B"/>
          </a:solidFill>
          <a:ln/>
          <a:effectLst>
            <a:outerShdw sx="100000" sy="100000" kx="0" ky="0" algn="bl" rotWithShape="0" blurRad="63500" dist="38100" dir="2700000">
              <a:srgbClr val="999999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99816" y="9326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18104" y="1307592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&amp; NFV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43984" y="868680"/>
            <a:ext cx="1298448" cy="1508760"/>
          </a:xfrm>
          <a:prstGeom prst="roundRect">
            <a:avLst>
              <a:gd name="adj" fmla="val 8451"/>
            </a:avLst>
          </a:prstGeom>
          <a:solidFill>
            <a:srgbClr val="00796B"/>
          </a:solidFill>
          <a:ln/>
          <a:effectLst>
            <a:outerShdw sx="100000" sy="100000" kx="0" ky="0" algn="bl" rotWithShape="0" blurRad="63500" dist="38100" dir="2700000">
              <a:srgbClr val="999999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89704" y="9326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07992" y="1307592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78408" y="2468880"/>
            <a:ext cx="1298448" cy="1508760"/>
          </a:xfrm>
          <a:prstGeom prst="roundRect">
            <a:avLst>
              <a:gd name="adj" fmla="val 8451"/>
            </a:avLst>
          </a:prstGeom>
          <a:solidFill>
            <a:srgbClr val="FF6F00"/>
          </a:solidFill>
          <a:ln/>
          <a:effectLst>
            <a:outerShdw sx="100000" sy="100000" kx="0" ky="0" algn="bl" rotWithShape="0" blurRad="63500" dist="38100" dir="2700000">
              <a:srgbClr val="999999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24128" y="25328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42416" y="2907792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Objects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68296" y="2468880"/>
            <a:ext cx="1298448" cy="1508760"/>
          </a:xfrm>
          <a:prstGeom prst="roundRect">
            <a:avLst>
              <a:gd name="adj" fmla="val 8451"/>
            </a:avLst>
          </a:prstGeom>
          <a:solidFill>
            <a:srgbClr val="6A1B9A"/>
          </a:solidFill>
          <a:ln/>
          <a:effectLst>
            <a:outerShdw sx="100000" sy="100000" kx="0" ky="0" algn="bl" rotWithShape="0" blurRad="63500" dist="38100" dir="2700000">
              <a:srgbClr val="999999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14016" y="25328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432304" y="2907792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Sensor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(WSN)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58184" y="2468880"/>
            <a:ext cx="1298448" cy="1508760"/>
          </a:xfrm>
          <a:prstGeom prst="roundRect">
            <a:avLst>
              <a:gd name="adj" fmla="val 8451"/>
            </a:avLst>
          </a:prstGeom>
          <a:solidFill>
            <a:srgbClr val="C62828"/>
          </a:solidFill>
          <a:ln/>
          <a:effectLst>
            <a:outerShdw sx="100000" sy="100000" kx="0" ky="0" algn="bl" rotWithShape="0" blurRad="63500" dist="38100" dir="2700000">
              <a:srgbClr val="999999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03904" y="25328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22192" y="2907792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822960"/>
            <a:ext cx="3291840" cy="4160520"/>
          </a:xfrm>
          <a:prstGeom prst="roundRect">
            <a:avLst>
              <a:gd name="adj" fmla="val 3333"/>
            </a:avLst>
          </a:prstGeom>
          <a:solidFill>
            <a:srgbClr val="0D1B3E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0" y="914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577840" y="1389888"/>
            <a:ext cx="292608" cy="292608"/>
          </a:xfrm>
          <a:prstGeom prst="roundRect">
            <a:avLst>
              <a:gd name="adj" fmla="val 156250"/>
            </a:avLst>
          </a:prstGeom>
          <a:solidFill>
            <a:srgbClr val="00BFA5"/>
          </a:solidFill>
          <a:ln/>
        </p:spPr>
      </p:sp>
      <p:sp>
        <p:nvSpPr>
          <p:cNvPr id="30" name="Text 28"/>
          <p:cNvSpPr/>
          <p:nvPr/>
        </p:nvSpPr>
        <p:spPr>
          <a:xfrm>
            <a:off x="5577840" y="1389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13898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M2M architecture and how it evolved into IoT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77840" y="2048256"/>
            <a:ext cx="292608" cy="292608"/>
          </a:xfrm>
          <a:prstGeom prst="roundRect">
            <a:avLst>
              <a:gd name="adj" fmla="val 156250"/>
            </a:avLst>
          </a:prstGeom>
          <a:solidFill>
            <a:srgbClr val="00BFA5"/>
          </a:solidFill>
          <a:ln/>
        </p:spPr>
      </p:sp>
      <p:sp>
        <p:nvSpPr>
          <p:cNvPr id="33" name="Text 31"/>
          <p:cNvSpPr/>
          <p:nvPr/>
        </p:nvSpPr>
        <p:spPr>
          <a:xfrm>
            <a:off x="5577840" y="2048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0" y="20482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SDN/NFV for scalable, programmable IoT networks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77840" y="2706624"/>
            <a:ext cx="292608" cy="292608"/>
          </a:xfrm>
          <a:prstGeom prst="roundRect">
            <a:avLst>
              <a:gd name="adj" fmla="val 156250"/>
            </a:avLst>
          </a:prstGeom>
          <a:solidFill>
            <a:srgbClr val="00BFA5"/>
          </a:solidFill>
          <a:ln/>
        </p:spPr>
      </p:sp>
      <p:sp>
        <p:nvSpPr>
          <p:cNvPr id="36" name="Text 34"/>
          <p:cNvSpPr/>
          <p:nvPr/>
        </p:nvSpPr>
        <p:spPr>
          <a:xfrm>
            <a:off x="5577840" y="27066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0" y="27066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sensors, actuators, and MEMS devices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77840" y="3364992"/>
            <a:ext cx="292608" cy="292608"/>
          </a:xfrm>
          <a:prstGeom prst="roundRect">
            <a:avLst>
              <a:gd name="adj" fmla="val 156250"/>
            </a:avLst>
          </a:prstGeom>
          <a:solidFill>
            <a:srgbClr val="00BFA5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3364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33649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WSN design, constraints, and communication patterns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577840" y="4023360"/>
            <a:ext cx="292608" cy="292608"/>
          </a:xfrm>
          <a:prstGeom prst="roundRect">
            <a:avLst>
              <a:gd name="adj" fmla="val 156250"/>
            </a:avLst>
          </a:prstGeom>
          <a:solidFill>
            <a:srgbClr val="00BFA5"/>
          </a:solidFill>
          <a:ln/>
        </p:spPr>
      </p:sp>
      <p:sp>
        <p:nvSpPr>
          <p:cNvPr id="42" name="Text 40"/>
          <p:cNvSpPr/>
          <p:nvPr/>
        </p:nvSpPr>
        <p:spPr>
          <a:xfrm>
            <a:off x="5577840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43600" y="4023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communication criteria to select the right wireless technology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 — Machine-to-Machine Communication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731520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Direct data communication between machines/devices WITHOUT human intervention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1565C0"/>
          </a:solidFill>
          <a:ln/>
          <a:effectLst>
            <a:outerShdw sx="100000" sy="100000" kx="0" ky="0" algn="bl" rotWithShape="0" blurRad="63500" dist="38100" dir="2700000">
              <a:srgbClr val="777777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874520"/>
            <a:ext cx="2459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 DEVICE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2258568"/>
            <a:ext cx="2459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Domain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224028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606040"/>
            <a:ext cx="238658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/ actuators collect data and transmit wirelessly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Smart meters, vehicle trackers, vending machines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78308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00897B"/>
          </a:solidFill>
          <a:ln/>
          <a:effectLst>
            <a:outerShdw sx="100000" sy="100000" kx="0" ky="0" algn="bl" rotWithShape="0" blurRad="63500" dist="38100" dir="2700000">
              <a:srgbClr val="777777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10712" y="1874520"/>
            <a:ext cx="2459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10712" y="2258568"/>
            <a:ext cx="2459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20440" y="2542032"/>
            <a:ext cx="224028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447288" y="2606040"/>
            <a:ext cx="238658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data between devices and application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Cellular (2G/3G/4G), ZigBee, WiFi, Wired LAN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82512" y="178308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6F00"/>
          </a:solidFill>
          <a:ln/>
          <a:effectLst>
            <a:outerShdw sx="100000" sy="100000" kx="0" ky="0" algn="bl" rotWithShape="0" blurRad="63500" dist="38100" dir="2700000">
              <a:srgbClr val="777777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55664" y="1874520"/>
            <a:ext cx="2459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55664" y="2258568"/>
            <a:ext cx="2459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Domain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65392" y="2542032"/>
            <a:ext cx="224028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606040"/>
            <a:ext cx="238658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Receives, processes &amp; acts on data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SCADA, Cloud server, Analytics platform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80360" y="3145536"/>
            <a:ext cx="457200" cy="640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4" name="Text 22"/>
          <p:cNvSpPr/>
          <p:nvPr/>
        </p:nvSpPr>
        <p:spPr>
          <a:xfrm>
            <a:off x="3154680" y="2990088"/>
            <a:ext cx="228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0" y="3145536"/>
            <a:ext cx="457200" cy="640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990088"/>
            <a:ext cx="228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vs M2M — Key Differences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32688"/>
            <a:ext cx="8595360" cy="5212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875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88920" y="9875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9875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26464"/>
            <a:ext cx="8595360" cy="521208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4813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88920" y="148132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Closed, proprietary networks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60720" y="14813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Internet standards (IP, cloud)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8595360" cy="521208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97510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88920" y="197510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Point-to-point, device-to-server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60720" y="197510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Device-to-device, device-to-cloud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414016"/>
            <a:ext cx="8595360" cy="521208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468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88920" y="24688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transmission only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760720" y="2468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AI/ML, real-time insights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907792"/>
            <a:ext cx="8595360" cy="521208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96265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88920" y="296265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— point solutions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60720" y="296265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devices — highly scalable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401568"/>
            <a:ext cx="8595360" cy="521208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4564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88920" y="34564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Proprietary, vendor-specific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60720" y="34564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MQTT, CoAP, HTTP, IPv6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895344"/>
            <a:ext cx="8595360" cy="521208"/>
          </a:xfrm>
          <a:prstGeom prst="rect">
            <a:avLst/>
          </a:prstGeom>
          <a:solidFill>
            <a:srgbClr val="172A45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9502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88920" y="39502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— standalone systems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760720" y="395020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Cross-domain, multi-system collaboration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389120"/>
            <a:ext cx="8595360" cy="521208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44398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788920" y="444398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 → utility server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760720" y="444398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 + grid + user app + pricing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0" y="932688"/>
            <a:ext cx="18288" cy="43891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8" name="Shape 36"/>
          <p:cNvSpPr/>
          <p:nvPr/>
        </p:nvSpPr>
        <p:spPr>
          <a:xfrm>
            <a:off x="5715000" y="932688"/>
            <a:ext cx="18288" cy="43891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IoT evolved FROM M2M — broader scope, open standards, intelligence &amp;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— Software Defined Networking for IoT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875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business apps define network behaviour &amp; policies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(Traffic management, security, QoS)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E8F5E9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305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LAYER (SDN Controller)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4688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brain — makes routing decisions, manages network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(OpenDaylight, ONOS, Floodlight)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FF3E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2735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 (Data Plane)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6118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switches/routers — forward packets as instructed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(OpenFlow-enabled switches)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1965960"/>
            <a:ext cx="2286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Northbound API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43200" y="1965960"/>
            <a:ext cx="2286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Southbound (OpenFlow)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71600" y="3108960"/>
            <a:ext cx="2286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Northbound API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0" y="3108960"/>
            <a:ext cx="2286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Southbound (OpenFlow)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577840" y="914400"/>
            <a:ext cx="3246120" cy="4251960"/>
          </a:xfrm>
          <a:prstGeom prst="roundRect">
            <a:avLst>
              <a:gd name="adj" fmla="val 2817"/>
            </a:avLst>
          </a:prstGeom>
          <a:solidFill>
            <a:srgbClr val="0D1B3E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1005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for IoT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0" y="1481328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00BFA5"/>
          </a:solidFill>
          <a:ln/>
        </p:spPr>
      </p:sp>
      <p:sp>
        <p:nvSpPr>
          <p:cNvPr id="22" name="Text 20"/>
          <p:cNvSpPr/>
          <p:nvPr/>
        </p:nvSpPr>
        <p:spPr>
          <a:xfrm>
            <a:off x="5998464" y="146304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Control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98464" y="168249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controller manages all IoT devices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2139696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00BFA5"/>
          </a:solidFill>
          <a:ln/>
        </p:spPr>
      </p:sp>
      <p:sp>
        <p:nvSpPr>
          <p:cNvPr id="25" name="Text 23"/>
          <p:cNvSpPr/>
          <p:nvPr/>
        </p:nvSpPr>
        <p:spPr>
          <a:xfrm>
            <a:off x="5998464" y="212140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Programmability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98464" y="234086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network behaviour via software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0" y="2798064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00BFA5"/>
          </a:solidFill>
          <a:ln/>
        </p:spPr>
      </p:sp>
      <p:sp>
        <p:nvSpPr>
          <p:cNvPr id="28" name="Text 26"/>
          <p:cNvSpPr/>
          <p:nvPr/>
        </p:nvSpPr>
        <p:spPr>
          <a:xfrm>
            <a:off x="5998464" y="277977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Traffic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98464" y="299923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sensor vs video IoT data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3456432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00BFA5"/>
          </a:solidFill>
          <a:ln/>
        </p:spPr>
      </p:sp>
      <p:sp>
        <p:nvSpPr>
          <p:cNvPr id="31" name="Text 29"/>
          <p:cNvSpPr/>
          <p:nvPr/>
        </p:nvSpPr>
        <p:spPr>
          <a:xfrm>
            <a:off x="5998464" y="3438144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98464" y="3657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thousands of IoT devices easily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0" y="4114800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00BFA5"/>
          </a:solidFill>
          <a:ln/>
        </p:spPr>
      </p:sp>
      <p:sp>
        <p:nvSpPr>
          <p:cNvPr id="34" name="Text 32"/>
          <p:cNvSpPr/>
          <p:nvPr/>
        </p:nvSpPr>
        <p:spPr>
          <a:xfrm>
            <a:off x="5998464" y="4096512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98464" y="43159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compromised devices instantly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NFV — Network Function Virtualization for IoT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1565C0"/>
          </a:solidFill>
          <a:ln/>
          <a:effectLst>
            <a:outerShdw sx="100000" sy="100000" kx="0" ky="0" algn="bl" rotWithShape="0" blurRad="63500" dist="38100" dir="2700000">
              <a:srgbClr val="888888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8755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VNF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 Function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233172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1051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implementation of a network function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(virtual firewall, virtual router, virtual NAT)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00897B"/>
          </a:solidFill>
          <a:ln/>
          <a:effectLst>
            <a:outerShdw sx="100000" sy="100000" kx="0" ky="0" algn="bl" rotWithShape="0" blurRad="63500" dist="38100" dir="2700000">
              <a:srgbClr val="888888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98755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NFVI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4630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NFV Infrastructure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1764792"/>
            <a:ext cx="233172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81051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servers + hypervisors providing compute, storage &amp; network resources on which VNFs run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FF6F00"/>
          </a:solidFill>
          <a:ln/>
          <a:effectLst>
            <a:outerShdw sx="100000" sy="100000" kx="0" ky="0" algn="bl" rotWithShape="0" blurRad="63500" dist="38100" dir="2700000">
              <a:srgbClr val="888888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98755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14630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Orchestration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1764792"/>
            <a:ext cx="233172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81051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VNF lifecycle — deployment, scaling, monitoring, termination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154680"/>
            <a:ext cx="8595360" cy="1920240"/>
          </a:xfrm>
          <a:prstGeom prst="roundRect">
            <a:avLst>
              <a:gd name="adj" fmla="val 4762"/>
            </a:avLst>
          </a:prstGeom>
          <a:solidFill>
            <a:srgbClr val="E3F2FD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2186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vs NFV — Quick Comparison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593592"/>
            <a:ext cx="8503920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6301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08960" y="36301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52160" y="36301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NFV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931920"/>
            <a:ext cx="85039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96849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08960" y="396849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control &amp; management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52160" y="396849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function implementation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270248"/>
            <a:ext cx="8503920" cy="320040"/>
          </a:xfrm>
          <a:prstGeom prst="rect">
            <a:avLst/>
          </a:prstGeom>
          <a:solidFill>
            <a:srgbClr val="D0E8F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30682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08960" y="430682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control from data plane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430682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Virtualises network functions (firewall, LB)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608576"/>
            <a:ext cx="85039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6451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108960" y="46451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Programmable, centralised control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52160" y="46451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costly hardware with software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9560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+ NFV together = agile, scalable, cost-effective IoT networks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— The "Sense Organs" of IoT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6868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Sensor: Measures a physical quantity and converts it to a digital signal for processing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2788920" cy="1024128"/>
          </a:xfrm>
          <a:prstGeom prst="roundRect">
            <a:avLst>
              <a:gd name="adj" fmla="val 8929"/>
            </a:avLst>
          </a:prstGeom>
          <a:solidFill>
            <a:srgbClr val="EF535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6642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thermostats, cold chain monitoring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572768"/>
            <a:ext cx="2788920" cy="1024128"/>
          </a:xfrm>
          <a:prstGeom prst="roundRect">
            <a:avLst>
              <a:gd name="adj" fmla="val 8929"/>
            </a:avLst>
          </a:prstGeom>
          <a:solidFill>
            <a:srgbClr val="AB47BC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6642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0299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 control, HVAC, weather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572768"/>
            <a:ext cx="2788920" cy="1024128"/>
          </a:xfrm>
          <a:prstGeom prst="roundRect">
            <a:avLst>
              <a:gd name="adj" fmla="val 8929"/>
            </a:avLst>
          </a:prstGeom>
          <a:solidFill>
            <a:srgbClr val="5C6BC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6642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0299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pressure, barometric, blood pressure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688336"/>
            <a:ext cx="2788920" cy="1024128"/>
          </a:xfrm>
          <a:prstGeom prst="roundRect">
            <a:avLst>
              <a:gd name="adj" fmla="val 8929"/>
            </a:avLst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77977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/ Accel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14553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systems, fitness trackers, drones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688336"/>
            <a:ext cx="2788920" cy="1024128"/>
          </a:xfrm>
          <a:prstGeom prst="roundRect">
            <a:avLst>
              <a:gd name="adj" fmla="val 8929"/>
            </a:avLst>
          </a:prstGeom>
          <a:solidFill>
            <a:srgbClr val="FF7043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277977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Optical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314553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lighting, plant growth monitoring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2688336"/>
            <a:ext cx="2788920" cy="1024128"/>
          </a:xfrm>
          <a:prstGeom prst="roundRect">
            <a:avLst>
              <a:gd name="adj" fmla="val 8929"/>
            </a:avLst>
          </a:prstGeom>
          <a:solidFill>
            <a:srgbClr val="00897B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277977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314553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parking, robot navigation, level sensor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803904"/>
            <a:ext cx="2788920" cy="1024128"/>
          </a:xfrm>
          <a:prstGeom prst="roundRect">
            <a:avLst>
              <a:gd name="adj" fmla="val 8929"/>
            </a:avLst>
          </a:prstGeom>
          <a:solidFill>
            <a:srgbClr val="26A69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89534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Chemical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26110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quality, CO detector, smoke detector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3803904"/>
            <a:ext cx="2788920" cy="1024128"/>
          </a:xfrm>
          <a:prstGeom prst="roundRect">
            <a:avLst>
              <a:gd name="adj" fmla="val 8929"/>
            </a:avLst>
          </a:prstGeom>
          <a:solidFill>
            <a:srgbClr val="42A5F5"/>
          </a:solidFill>
          <a:ln/>
        </p:spPr>
      </p:sp>
      <p:sp>
        <p:nvSpPr>
          <p:cNvPr id="30" name="Text 28"/>
          <p:cNvSpPr/>
          <p:nvPr/>
        </p:nvSpPr>
        <p:spPr>
          <a:xfrm>
            <a:off x="3291840" y="389534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Location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1840" y="426110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tracking, asset management, navigation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3803904"/>
            <a:ext cx="2788920" cy="1024128"/>
          </a:xfrm>
          <a:prstGeom prst="roundRect">
            <a:avLst>
              <a:gd name="adj" fmla="val 8929"/>
            </a:avLst>
          </a:prstGeom>
          <a:solidFill>
            <a:srgbClr val="EC407A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389534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426110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ECG, blood glucose monitor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 &amp; MEMS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389120" cy="4251960"/>
          </a:xfrm>
          <a:prstGeom prst="roundRect">
            <a:avLst>
              <a:gd name="adj" fmla="val 2151"/>
            </a:avLst>
          </a:prstGeom>
          <a:solidFill>
            <a:srgbClr val="E3F2FD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961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 — by Energy Type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Actuator: Converts digital/electrical signal → physical action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6420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/ Electromagnetic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65376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Motors, solenoids, relays, electromagnets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157984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1565A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945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39572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cylinders, motors (heavy machinery)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688336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2491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Pneumatic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92608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Pneumatic cylinders, air valves, grippers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218688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F6F0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5526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/ Bimetallic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45643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Thermostats, shape-memory alloys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8561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986784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Inkjet printer heads, micro-pumps, ultrasonic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279392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AD1457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3159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/ Photonic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517136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LEDs, laser diodes, LCD displays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841248"/>
            <a:ext cx="3977640" cy="4251960"/>
          </a:xfrm>
          <a:prstGeom prst="roundRect">
            <a:avLst>
              <a:gd name="adj" fmla="val 2299"/>
            </a:avLst>
          </a:prstGeom>
          <a:solidFill>
            <a:srgbClr val="0D1B3E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914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983480" y="12984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Micro-Electro-Mechanical Systems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83480" y="16002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+ Actuators + Electronics on ONE silicon chip using microfabrication — measured in micrometres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2194560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00BFA5"/>
          </a:solidFill>
          <a:ln/>
        </p:spPr>
      </p:sp>
      <p:sp>
        <p:nvSpPr>
          <p:cNvPr id="32" name="Text 30"/>
          <p:cNvSpPr/>
          <p:nvPr/>
        </p:nvSpPr>
        <p:spPr>
          <a:xfrm>
            <a:off x="5266944" y="2194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66944" y="241401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Accelerometer, gyroscope, microphone, barometer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937760" y="2624328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00BFA5"/>
          </a:solidFill>
          <a:ln/>
        </p:spPr>
      </p:sp>
      <p:sp>
        <p:nvSpPr>
          <p:cNvPr id="35" name="Text 33"/>
          <p:cNvSpPr/>
          <p:nvPr/>
        </p:nvSpPr>
        <p:spPr>
          <a:xfrm>
            <a:off x="5266944" y="26243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Airbag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66944" y="284378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 accelerometer triggers airbag on impact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37760" y="3054096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00BFA5"/>
          </a:solidFill>
          <a:ln/>
        </p:spPr>
      </p:sp>
      <p:sp>
        <p:nvSpPr>
          <p:cNvPr id="38" name="Text 36"/>
          <p:cNvSpPr/>
          <p:nvPr/>
        </p:nvSpPr>
        <p:spPr>
          <a:xfrm>
            <a:off x="5266944" y="30540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Tracker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66944" y="327355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 accel, gyro, heart rate sensor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37760" y="3483864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00BFA5"/>
          </a:solidFill>
          <a:ln/>
        </p:spPr>
      </p:sp>
      <p:sp>
        <p:nvSpPr>
          <p:cNvPr id="41" name="Text 39"/>
          <p:cNvSpPr/>
          <p:nvPr/>
        </p:nvSpPr>
        <p:spPr>
          <a:xfrm>
            <a:off x="5266944" y="34838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Inkjet Printer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66944" y="37033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 micro-pump for precise ink control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937760" y="3913632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00BFA5"/>
          </a:solidFill>
          <a:ln/>
        </p:spPr>
      </p:sp>
      <p:sp>
        <p:nvSpPr>
          <p:cNvPr id="44" name="Text 42"/>
          <p:cNvSpPr/>
          <p:nvPr/>
        </p:nvSpPr>
        <p:spPr>
          <a:xfrm>
            <a:off x="5266944" y="39136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Drones/UAVs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66944" y="41330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 IMU — accelerometer + gyro + magnetometer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937760" y="4407408"/>
            <a:ext cx="3794760" cy="1828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7" name="Text 45"/>
          <p:cNvSpPr/>
          <p:nvPr/>
        </p:nvSpPr>
        <p:spPr>
          <a:xfrm>
            <a:off x="4937760" y="445312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 Tiny, cheap, low-power — mass producible like microchips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Objects — The Building Blocks of IoT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Object = Processor  +  Sensor(s)/Actuator(s)  +  Communication  +  Power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057400" cy="2286000"/>
          </a:xfrm>
          <a:prstGeom prst="roundRect">
            <a:avLst>
              <a:gd name="adj" fmla="val 5333"/>
            </a:avLst>
          </a:prstGeom>
          <a:solidFill>
            <a:srgbClr val="1565C0"/>
          </a:solidFill>
          <a:ln/>
          <a:effectLst>
            <a:outerShdw sx="100000" sy="100000" kx="0" ky="0" algn="bl" rotWithShape="0" blurRad="76200" dist="38100" dir="2700000">
              <a:srgbClr val="000000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600200"/>
            <a:ext cx="1911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Unit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1691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2148840"/>
            <a:ext cx="191109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— processes sensor data, runs control logic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(Arduino, ARM Cortex-M)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508760"/>
            <a:ext cx="2057400" cy="2286000"/>
          </a:xfrm>
          <a:prstGeom prst="roundRect">
            <a:avLst>
              <a:gd name="adj" fmla="val 5333"/>
            </a:avLst>
          </a:prstGeom>
          <a:solidFill>
            <a:srgbClr val="00897B"/>
          </a:solidFill>
          <a:ln/>
          <a:effectLst>
            <a:outerShdw sx="100000" sy="100000" kx="0" ky="0" algn="bl" rotWithShape="0" blurRad="76200" dist="38100" dir="2700000">
              <a:srgbClr val="00000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1600200"/>
            <a:ext cx="1911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/ Actuators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2084832"/>
            <a:ext cx="1691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2148840"/>
            <a:ext cx="191109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with physical world — sense and 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sensor + relay switch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508760"/>
            <a:ext cx="2057400" cy="2286000"/>
          </a:xfrm>
          <a:prstGeom prst="roundRect">
            <a:avLst>
              <a:gd name="adj" fmla="val 5333"/>
            </a:avLst>
          </a:prstGeom>
          <a:solidFill>
            <a:srgbClr val="7B1FA2"/>
          </a:solidFill>
          <a:ln/>
          <a:effectLst>
            <a:outerShdw sx="100000" sy="100000" kx="0" ky="0" algn="bl" rotWithShape="0" blurRad="76200" dist="38100" dir="2700000">
              <a:srgbClr val="000000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36592" y="1600200"/>
            <a:ext cx="1911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084832"/>
            <a:ext cx="1691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2148840"/>
            <a:ext cx="191109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network and other smart objects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WiFi, ZigBee, Bluetooth, LoRa module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0" y="1508760"/>
            <a:ext cx="2057400" cy="2286000"/>
          </a:xfrm>
          <a:prstGeom prst="roundRect">
            <a:avLst>
              <a:gd name="adj" fmla="val 5333"/>
            </a:avLst>
          </a:prstGeom>
          <a:solidFill>
            <a:srgbClr val="FF6F00"/>
          </a:solidFill>
          <a:ln/>
          <a:effectLst>
            <a:outerShdw sx="100000" sy="100000" kx="0" ky="0" algn="bl" rotWithShape="0" blurRad="76200" dist="38100" dir="2700000">
              <a:srgbClr val="000000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31152" y="1600200"/>
            <a:ext cx="1911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40880" y="2084832"/>
            <a:ext cx="1691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931152" y="2148840"/>
            <a:ext cx="191109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 for the device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Battery, solar cell, wired power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93192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172A4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05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Trends in Smart Objects: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352544"/>
            <a:ext cx="1572768" cy="640080"/>
          </a:xfrm>
          <a:prstGeom prst="roundRect">
            <a:avLst>
              <a:gd name="adj" fmla="val 11429"/>
            </a:avLst>
          </a:prstGeom>
          <a:solidFill>
            <a:srgbClr val="00897B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389120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Size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139696" y="4352544"/>
            <a:ext cx="1572768" cy="640080"/>
          </a:xfrm>
          <a:prstGeom prst="roundRect">
            <a:avLst>
              <a:gd name="adj" fmla="val 11429"/>
            </a:avLst>
          </a:prstGeom>
          <a:solidFill>
            <a:srgbClr val="00897B"/>
          </a:solidFill>
          <a:ln/>
        </p:spPr>
      </p:sp>
      <p:sp>
        <p:nvSpPr>
          <p:cNvPr id="27" name="Text 25"/>
          <p:cNvSpPr/>
          <p:nvPr/>
        </p:nvSpPr>
        <p:spPr>
          <a:xfrm>
            <a:off x="2185416" y="4389120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Power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22192" y="4352544"/>
            <a:ext cx="1572768" cy="640080"/>
          </a:xfrm>
          <a:prstGeom prst="roundRect">
            <a:avLst>
              <a:gd name="adj" fmla="val 11429"/>
            </a:avLst>
          </a:prstGeom>
          <a:solidFill>
            <a:srgbClr val="00897B"/>
          </a:solidFill>
          <a:ln/>
        </p:spPr>
      </p:sp>
      <p:sp>
        <p:nvSpPr>
          <p:cNvPr id="29" name="Text 27"/>
          <p:cNvSpPr/>
          <p:nvPr/>
        </p:nvSpPr>
        <p:spPr>
          <a:xfrm>
            <a:off x="3867912" y="4389120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Processing Power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04688" y="4352544"/>
            <a:ext cx="1572768" cy="640080"/>
          </a:xfrm>
          <a:prstGeom prst="roundRect">
            <a:avLst>
              <a:gd name="adj" fmla="val 11429"/>
            </a:avLst>
          </a:prstGeom>
          <a:solidFill>
            <a:srgbClr val="00897B"/>
          </a:solidFill>
          <a:ln/>
        </p:spPr>
      </p:sp>
      <p:sp>
        <p:nvSpPr>
          <p:cNvPr id="31" name="Text 29"/>
          <p:cNvSpPr/>
          <p:nvPr/>
        </p:nvSpPr>
        <p:spPr>
          <a:xfrm>
            <a:off x="5550408" y="4389120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Communication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87184" y="4352544"/>
            <a:ext cx="1572768" cy="640080"/>
          </a:xfrm>
          <a:prstGeom prst="roundRect">
            <a:avLst>
              <a:gd name="adj" fmla="val 11429"/>
            </a:avLst>
          </a:prstGeom>
          <a:solidFill>
            <a:srgbClr val="00897B"/>
          </a:solidFill>
          <a:ln/>
        </p:spPr>
      </p:sp>
      <p:sp>
        <p:nvSpPr>
          <p:cNvPr id="33" name="Text 31"/>
          <p:cNvSpPr/>
          <p:nvPr/>
        </p:nvSpPr>
        <p:spPr>
          <a:xfrm>
            <a:off x="7232904" y="4389120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Standardisation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Sensor Networks (WSNs)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EF5350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9202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EF5350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301752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402336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EF5350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411480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0" y="237744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FF6F00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74520" y="246888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0" y="365760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FF6F00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74520" y="3749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83280" y="283464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1565C0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29000" y="292608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283464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00897B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292608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283464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6A1B9A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292608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91640" y="2221992"/>
            <a:ext cx="137160" cy="38404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1640" y="2697480"/>
            <a:ext cx="137160" cy="62179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1640" y="3703320"/>
            <a:ext cx="137160" cy="71323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6120" y="2816352"/>
            <a:ext cx="137160" cy="2926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6" name="Shape 24"/>
          <p:cNvSpPr/>
          <p:nvPr/>
        </p:nvSpPr>
        <p:spPr>
          <a:xfrm>
            <a:off x="3246120" y="3246120"/>
            <a:ext cx="137160" cy="82296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7" name="Shape 25"/>
          <p:cNvSpPr/>
          <p:nvPr/>
        </p:nvSpPr>
        <p:spPr>
          <a:xfrm>
            <a:off x="4800600" y="3227832"/>
            <a:ext cx="137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8" name="Shape 26"/>
          <p:cNvSpPr/>
          <p:nvPr/>
        </p:nvSpPr>
        <p:spPr>
          <a:xfrm>
            <a:off x="6355080" y="3227832"/>
            <a:ext cx="1371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914400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E3F2FD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9692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FFD (Full Function Device)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12252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coordinator, router, or end device. Implements full protocol stack.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0" y="9692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RFD (Reduced Function Device)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12252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device only. Talks only to FFDs. Simpler, cheaper, lower power — ideal for leaf sensor nodes.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26280" y="969264"/>
            <a:ext cx="18288" cy="73152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461772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0D1B3E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" y="4681728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565C0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7091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Processing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103120" y="4681728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565C0"/>
          </a:solidFill>
          <a:ln/>
        </p:spPr>
      </p:sp>
      <p:sp>
        <p:nvSpPr>
          <p:cNvPr id="39" name="Text 37"/>
          <p:cNvSpPr/>
          <p:nvPr/>
        </p:nvSpPr>
        <p:spPr>
          <a:xfrm>
            <a:off x="2103120" y="47091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Memory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40480" y="4681728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565C0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0" y="47091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Lossy Links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77840" y="4681728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565C0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47091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Data Rate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0" y="4681728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565C0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0" y="47091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Power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WSN — Communication Patterns &amp; Data Aggregation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251960" cy="228600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ONLY when a specific event or threshold is detected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Saves energy — ideal for alarms &amp; alerts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Motion sensor transmits only when motion detected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detector alerts only when CO &gt; safe threshold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841248"/>
            <a:ext cx="3977640" cy="22860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9144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3258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at fixed time intervals regardless of conditions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755648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Predictable behaviour — ideal for monitoring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Temperature sensor reports every 60 sec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monitor reports every 5 minutes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324612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3101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3310128"/>
            <a:ext cx="6035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head collects readings from nearby nodes → computes aggregate (average, min, max) → sends ONE value upstream.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transmissions dramatically. Saves energy. Enables edge/fog processing.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25196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43159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Self-Organisation in WSNs: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06040" y="4315968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0D1B3E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436168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Self-Configuration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4315968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0D1B3E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436168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06440" y="4315968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0D1B3E"/>
          </a:solidFill>
          <a:ln/>
        </p:spPr>
      </p:sp>
      <p:sp>
        <p:nvSpPr>
          <p:cNvPr id="25" name="Text 23"/>
          <p:cNvSpPr/>
          <p:nvPr/>
        </p:nvSpPr>
        <p:spPr>
          <a:xfrm>
            <a:off x="5806440" y="436168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Self-Protection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06640" y="4315968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0D1B3E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436168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Self-Optimisation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Protocols for WSNs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960120"/>
            <a:ext cx="2926080" cy="749808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058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2984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CoAP, MQTT, HTTP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13816" y="1801368"/>
            <a:ext cx="3035808" cy="749808"/>
          </a:xfrm>
          <a:prstGeom prst="rect">
            <a:avLst/>
          </a:prstGeom>
          <a:solidFill>
            <a:srgbClr val="1565A0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847088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2139696"/>
            <a:ext cx="2944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(preferred — lightweight)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8952" y="2642616"/>
            <a:ext cx="3145536" cy="7498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688336"/>
            <a:ext cx="3054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2980944"/>
            <a:ext cx="3054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/ 6LoWPAN, RPL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4088" y="3483864"/>
            <a:ext cx="3255264" cy="7498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529584"/>
            <a:ext cx="3163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 / MAC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3822192"/>
            <a:ext cx="3163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802.15.4 MAC, CSMA/CA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" y="4325112"/>
            <a:ext cx="3364992" cy="74980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4370832"/>
            <a:ext cx="3273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" y="466344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802.15.4 PHY (2.4GHz, 868/915 MHz)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51389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Protocol Stack (WSN)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960120"/>
            <a:ext cx="2029968" cy="1316736"/>
          </a:xfrm>
          <a:prstGeom prst="roundRect">
            <a:avLst>
              <a:gd name="adj" fmla="val 5556"/>
            </a:avLst>
          </a:prstGeom>
          <a:solidFill>
            <a:srgbClr val="00897B"/>
          </a:solidFill>
          <a:ln/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45152" y="103327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802.15.4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380744"/>
            <a:ext cx="1847088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645152" y="1435608"/>
            <a:ext cx="188366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standard. 250 Kbps at 2.4 GHz. Short range (10–100m). Low power. Base for ZigBee/6LoWPAN.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720840" y="960120"/>
            <a:ext cx="2029968" cy="1316736"/>
          </a:xfrm>
          <a:prstGeom prst="roundRect">
            <a:avLst>
              <a:gd name="adj" fmla="val 5556"/>
            </a:avLst>
          </a:prstGeom>
          <a:solidFill>
            <a:srgbClr val="00695C"/>
          </a:solidFill>
          <a:ln/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93992" y="103327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ZigBee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12280" y="1380744"/>
            <a:ext cx="1847088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793992" y="1435608"/>
            <a:ext cx="188366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mesh. Up to 65,000 nodes. AES-128 security. Smart home &amp; building automation.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2368296"/>
            <a:ext cx="2029968" cy="1316736"/>
          </a:xfrm>
          <a:prstGeom prst="roundRect">
            <a:avLst>
              <a:gd name="adj" fmla="val 5556"/>
            </a:avLst>
          </a:prstGeom>
          <a:solidFill>
            <a:srgbClr val="1565C0"/>
          </a:solidFill>
          <a:ln/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45152" y="2441448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6LoWPAN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788920"/>
            <a:ext cx="1847088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645152" y="2843784"/>
            <a:ext cx="188366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over 802.15.4. Compresses 40-byte IPv6 headers to 2 bytes. Enables end-to-end IP on constrained devices.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20840" y="2368296"/>
            <a:ext cx="2029968" cy="1316736"/>
          </a:xfrm>
          <a:prstGeom prst="roundRect">
            <a:avLst>
              <a:gd name="adj" fmla="val 5556"/>
            </a:avLst>
          </a:prstGeom>
          <a:solidFill>
            <a:srgbClr val="1565A0"/>
          </a:solidFill>
          <a:ln/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93992" y="2441448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12280" y="2788920"/>
            <a:ext cx="1847088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793992" y="2843784"/>
            <a:ext cx="188366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routing for LLNs. Builds DODAG tree from sensors to gateway. IETF RFC 6550. Energy-efficient routing.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0" y="3776472"/>
            <a:ext cx="2029968" cy="1316736"/>
          </a:xfrm>
          <a:prstGeom prst="roundRect">
            <a:avLst>
              <a:gd name="adj" fmla="val 5556"/>
            </a:avLst>
          </a:prstGeom>
          <a:solidFill>
            <a:srgbClr val="7B1FA2"/>
          </a:solidFill>
          <a:ln/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45152" y="3849624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4197096"/>
            <a:ext cx="1847088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645152" y="4251960"/>
            <a:ext cx="188366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protocol over UDP. Only 4-byte header. Request-response model like HTTP but ultra-lightweight.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720840" y="3776472"/>
            <a:ext cx="2029968" cy="1316736"/>
          </a:xfrm>
          <a:prstGeom prst="roundRect">
            <a:avLst>
              <a:gd name="adj" fmla="val 5556"/>
            </a:avLst>
          </a:prstGeom>
          <a:solidFill>
            <a:srgbClr val="AD1457"/>
          </a:solidFill>
          <a:ln/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793992" y="3849624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12280" y="4197096"/>
            <a:ext cx="1847088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793992" y="4251960"/>
            <a:ext cx="188366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Publish-subscribe messaging. 2-byte fixed header. Ideal for telemetry over lossy, low-bandwidth networks.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Smart Objects — Communication Criteria (Part 1)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5029200" cy="4297680"/>
          </a:xfrm>
          <a:prstGeom prst="roundRect">
            <a:avLst>
              <a:gd name="adj" fmla="val 2128"/>
            </a:avLst>
          </a:prstGeom>
          <a:solidFill>
            <a:srgbClr val="E3F2F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9611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EF535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4173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— Personal Area (~1–10m)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6733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Bluetooth, NFC, ZigBee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03320" y="1463040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→ smartphone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F6F0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130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 — Home Area (~10–100m)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23865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ZigBee, BLE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03320" y="2176272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sensors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779776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FB30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8437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— Neighbourhood (~100s m)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30998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ZigBee mesh, 802.15.4g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03320" y="2889504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493008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00897B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35570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— Field Area (100m–few km)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38130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LoRaWAN, 802.15.4g, LTE-M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03320" y="3602736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district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42702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— Wide Area (km+)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45262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(4G/LTE), LoRaWAN, NB-IoT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03320" y="431596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tracking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0" y="841248"/>
            <a:ext cx="3337560" cy="4297680"/>
          </a:xfrm>
          <a:prstGeom prst="roundRect">
            <a:avLst>
              <a:gd name="adj" fmla="val 2740"/>
            </a:avLst>
          </a:prstGeom>
          <a:solidFill>
            <a:srgbClr val="0D1B3E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0" y="9144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BANDS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77840" y="1371600"/>
            <a:ext cx="3154680" cy="1280160"/>
          </a:xfrm>
          <a:prstGeom prst="roundRect">
            <a:avLst>
              <a:gd name="adj" fmla="val 5714"/>
            </a:avLst>
          </a:prstGeom>
          <a:solidFill>
            <a:srgbClr val="1A3B5C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0" y="143560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Spectrum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1737360"/>
            <a:ext cx="2971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exclusively to licensed operators.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billions. No interference.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Cellular, WiMAX, NB-IoT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77840" y="2788920"/>
            <a:ext cx="3154680" cy="2194560"/>
          </a:xfrm>
          <a:prstGeom prst="roundRect">
            <a:avLst>
              <a:gd name="adj" fmla="val 3333"/>
            </a:avLst>
          </a:prstGeom>
          <a:solidFill>
            <a:srgbClr val="1A2B1A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285292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Unlicensed ISM Bands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0" y="32186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868 MHz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629400" y="3246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Europe/India — better penetration, longer range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0" y="37673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915 MHz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629400" y="37947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Americas/Australia — similar advantages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69280" y="43159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GHz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629400" y="4343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— higher rate, more interference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77840" y="46634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Sub-GHz: Better penetration, longer range, lower data rate — PREFERRED for IoT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Criteria (Part 2) — Topology, Power &amp; Constrained Devices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2816352" cy="2377440"/>
          </a:xfrm>
          <a:prstGeom prst="roundRect">
            <a:avLst>
              <a:gd name="adj" fmla="val 3846"/>
            </a:avLst>
          </a:prstGeom>
          <a:solidFill>
            <a:srgbClr val="1565C0"/>
          </a:solidFill>
          <a:ln/>
          <a:effectLst>
            <a:outerShdw sx="100000" sy="100000" kx="0" ky="0" algn="bl" rotWithShape="0" blurRad="50800" dist="38100" dir="2700000">
              <a:srgbClr val="888888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1440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07592"/>
            <a:ext cx="2450592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71600"/>
            <a:ext cx="2633472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devices connect to central hub/gateway.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low latency.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Used: WiFi, LoRaWAN, NB-IoT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841248"/>
            <a:ext cx="2816352" cy="2377440"/>
          </a:xfrm>
          <a:prstGeom prst="roundRect">
            <a:avLst>
              <a:gd name="adj" fmla="val 3846"/>
            </a:avLst>
          </a:prstGeom>
          <a:solidFill>
            <a:srgbClr val="00897B"/>
          </a:solidFill>
          <a:ln/>
          <a:effectLst>
            <a:outerShdw sx="100000" sy="100000" kx="0" ky="0" algn="bl" rotWithShape="0" blurRad="50800" dist="38100" dir="2700000">
              <a:srgbClr val="888888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9272" y="91440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10712" y="1307592"/>
            <a:ext cx="2450592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319272" y="1371600"/>
            <a:ext cx="2633472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talks to multiple neighbours. Data hops through network.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Self-healing, extended range.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Used: ZigBee, Thread, WiFi mesh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841248"/>
            <a:ext cx="2816352" cy="2377440"/>
          </a:xfrm>
          <a:prstGeom prst="roundRect">
            <a:avLst>
              <a:gd name="adj" fmla="val 3846"/>
            </a:avLst>
          </a:prstGeom>
          <a:solidFill>
            <a:srgbClr val="7B1FA2"/>
          </a:solidFill>
          <a:ln/>
          <a:effectLst>
            <a:outerShdw sx="100000" sy="100000" kx="0" ky="0" algn="bl" rotWithShape="0" blurRad="50800" dist="38100" dir="2700000">
              <a:srgbClr val="888888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72784" y="91440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64224" y="1307592"/>
            <a:ext cx="2450592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272784" y="1371600"/>
            <a:ext cx="2633472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device talks directly to any other in range.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no controller needed.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range.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Used: Bluetooth, early ZigBee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310128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E3F2FD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3832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CONSUMPTION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767328"/>
            <a:ext cx="1591056" cy="1234440"/>
          </a:xfrm>
          <a:prstGeom prst="roundRect">
            <a:avLst>
              <a:gd name="adj" fmla="val 5926"/>
            </a:avLst>
          </a:prstGeom>
          <a:solidFill>
            <a:srgbClr val="FF6F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22192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Nodes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187952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 power — no constraint. Smart meter, industrial sensor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66544" y="3767328"/>
            <a:ext cx="1591056" cy="1234440"/>
          </a:xfrm>
          <a:prstGeom prst="roundRect">
            <a:avLst>
              <a:gd name="adj" fmla="val 5926"/>
            </a:avLst>
          </a:prstGeom>
          <a:solidFill>
            <a:srgbClr val="00897B"/>
          </a:solidFill>
          <a:ln/>
        </p:spPr>
      </p:sp>
      <p:sp>
        <p:nvSpPr>
          <p:cNvPr id="24" name="Text 22"/>
          <p:cNvSpPr/>
          <p:nvPr/>
        </p:nvSpPr>
        <p:spPr>
          <a:xfrm>
            <a:off x="2157984" y="3822192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(Sleep Modes)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57984" y="4187952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years with deep sleep. ZigBee, parking sensor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67328" y="3767328"/>
            <a:ext cx="1591056" cy="1234440"/>
          </a:xfrm>
          <a:prstGeom prst="roundRect">
            <a:avLst>
              <a:gd name="adj" fmla="val 5926"/>
            </a:avLst>
          </a:prstGeom>
          <a:solidFill>
            <a:srgbClr val="388E3C"/>
          </a:solidFill>
          <a:ln/>
        </p:spPr>
      </p:sp>
      <p:sp>
        <p:nvSpPr>
          <p:cNvPr id="27" name="Text 25"/>
          <p:cNvSpPr/>
          <p:nvPr/>
        </p:nvSpPr>
        <p:spPr>
          <a:xfrm>
            <a:off x="3858768" y="3822192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Harvesting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58768" y="4187952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Indefinite. Solar/vibration. Smart agriculture sensors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23560" y="3310128"/>
            <a:ext cx="3200400" cy="1783080"/>
          </a:xfrm>
          <a:prstGeom prst="roundRect">
            <a:avLst>
              <a:gd name="adj" fmla="val 5128"/>
            </a:avLst>
          </a:prstGeom>
          <a:solidFill>
            <a:srgbClr val="0D1B3E"/>
          </a:solidFill>
          <a:ln/>
        </p:spPr>
      </p:sp>
      <p:sp>
        <p:nvSpPr>
          <p:cNvPr id="30" name="Text 28"/>
          <p:cNvSpPr/>
          <p:nvPr/>
        </p:nvSpPr>
        <p:spPr>
          <a:xfrm>
            <a:off x="5715000" y="3383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Devices (RFC 7228)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15000" y="3749040"/>
            <a:ext cx="3017520" cy="384048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0" y="378561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10528" y="378561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 KB RAM, &lt;100 KB ROM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808976" y="378561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Pre-configured; no IP stack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715000" y="4178808"/>
            <a:ext cx="3017520" cy="384048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/>
        </p:spPr>
      </p:sp>
      <p:sp>
        <p:nvSpPr>
          <p:cNvPr id="36" name="Text 34"/>
          <p:cNvSpPr/>
          <p:nvPr/>
        </p:nvSpPr>
        <p:spPr>
          <a:xfrm>
            <a:off x="5760720" y="4215384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10528" y="421538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KB RAM, ~100 KB ROM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808976" y="4215384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CoAP, lightweight protos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715000" y="4608576"/>
            <a:ext cx="3017520" cy="384048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/>
        </p:spPr>
      </p:sp>
      <p:sp>
        <p:nvSpPr>
          <p:cNvPr id="40" name="Text 38"/>
          <p:cNvSpPr/>
          <p:nvPr/>
        </p:nvSpPr>
        <p:spPr>
          <a:xfrm>
            <a:off x="5760720" y="464515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10528" y="464515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KB RAM, ~250 KB ROM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808976" y="464515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support more complex protocols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Criteria (Part 3) — Data Rate, Latency &amp; Overhead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32688"/>
            <a:ext cx="8595360" cy="1719072"/>
          </a:xfrm>
          <a:prstGeom prst="roundRect">
            <a:avLst>
              <a:gd name="adj" fmla="val 5319"/>
            </a:avLst>
          </a:prstGeom>
          <a:solidFill>
            <a:srgbClr val="172A45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RATE SPECTRUM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457200" cy="5486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8988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Sigfox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bps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05256" y="1389888"/>
            <a:ext cx="1005840" cy="5486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bps–50 Kbps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947672" y="1389888"/>
            <a:ext cx="1325880" cy="54864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2" name="Text 10"/>
          <p:cNvSpPr/>
          <p:nvPr/>
        </p:nvSpPr>
        <p:spPr>
          <a:xfrm>
            <a:off x="1947672" y="1389888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NB-IoT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Kbps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310128" y="1389888"/>
            <a:ext cx="1600200" cy="548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38988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ZigBee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Kbps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946904" y="1389888"/>
            <a:ext cx="2240280" cy="548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4946904" y="138988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LTE-M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Mbps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223760" y="1389888"/>
            <a:ext cx="8549640" cy="5486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1389888"/>
            <a:ext cx="8549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300 Mbps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4320" y="2743200"/>
            <a:ext cx="4251960" cy="2377440"/>
          </a:xfrm>
          <a:prstGeom prst="roundRect">
            <a:avLst>
              <a:gd name="adj" fmla="val 3846"/>
            </a:avLst>
          </a:prstGeom>
          <a:solidFill>
            <a:srgbClr val="0F1E35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8163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2461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robot control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32461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ms — deterministic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66160" y="324612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Ethernet / TSN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11480" y="3703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protection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0" y="37033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ms (IEC 61850)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66160" y="370332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802.15.4e TSCH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11480" y="4160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monitoring alert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0" y="41605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second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566160" y="416052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LTE-M, WiFi, ZigBee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11480" y="4617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 reading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86000" y="4617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acceptable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566160" y="461772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NB-IoT, LoRaWAN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63440" y="2743200"/>
            <a:ext cx="4160520" cy="2377440"/>
          </a:xfrm>
          <a:prstGeom prst="roundRect">
            <a:avLst>
              <a:gd name="adj" fmla="val 3846"/>
            </a:avLst>
          </a:prstGeom>
          <a:solidFill>
            <a:srgbClr val="0F1E35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281635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&amp; PAYLOAD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00600" y="321868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send tiny payloads (2–4 bytes) — protocol overhead must be minimised: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00600" y="3703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Header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91072" y="37033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bytes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06640" y="370332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 for 2-byte payload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00600" y="40233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6LoWPAN Header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91072" y="40233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bytes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06640" y="402336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IPv6 — perfect for WSN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00600" y="43434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91072" y="43434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 bytes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06640" y="434340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too heavy for IoT sensors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00600" y="46634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CoAP Header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91072" y="46634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06640" y="46634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 REST over UDP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800600" y="49834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Fixed Header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91072" y="4983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bytes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406640" y="498348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overhead for pub-sub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800600" y="53035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Payload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91072" y="53035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19–250 bytes max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406640" y="530352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payload by design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Quick Revision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56032" y="868680"/>
            <a:ext cx="2057400" cy="1261872"/>
          </a:xfrm>
          <a:prstGeom prst="roundRect">
            <a:avLst>
              <a:gd name="adj" fmla="val 7246"/>
            </a:avLst>
          </a:prstGeom>
          <a:solidFill>
            <a:srgbClr val="1565C0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" y="960120"/>
            <a:ext cx="1911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" y="1371600"/>
            <a:ext cx="1691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" y="1435608"/>
            <a:ext cx="191109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talk directly, no humans — closed, proprietary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868680"/>
            <a:ext cx="2057400" cy="1261872"/>
          </a:xfrm>
          <a:prstGeom prst="roundRect">
            <a:avLst>
              <a:gd name="adj" fmla="val 7246"/>
            </a:avLst>
          </a:prstGeom>
          <a:solidFill>
            <a:srgbClr val="1565A0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96312" y="960120"/>
            <a:ext cx="1911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06040" y="1371600"/>
            <a:ext cx="1691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496312" y="1435608"/>
            <a:ext cx="191109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Broader, open, IP-based, intelligent analytics, scalable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90288" y="868680"/>
            <a:ext cx="2057400" cy="1261872"/>
          </a:xfrm>
          <a:prstGeom prst="roundRect">
            <a:avLst>
              <a:gd name="adj" fmla="val 7246"/>
            </a:avLst>
          </a:prstGeom>
          <a:solidFill>
            <a:srgbClr val="00897B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960120"/>
            <a:ext cx="1911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73168" y="1371600"/>
            <a:ext cx="1691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435608"/>
            <a:ext cx="191109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(software) separate from data plane (hardware)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57416" y="868680"/>
            <a:ext cx="2057400" cy="1261872"/>
          </a:xfrm>
          <a:prstGeom prst="roundRect">
            <a:avLst>
              <a:gd name="adj" fmla="val 7246"/>
            </a:avLst>
          </a:prstGeom>
          <a:solidFill>
            <a:srgbClr val="00695C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30568" y="960120"/>
            <a:ext cx="1911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NFV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40296" y="1371600"/>
            <a:ext cx="1691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30568" y="1435608"/>
            <a:ext cx="191109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functions as software on COTS servers — not hardware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2221992"/>
            <a:ext cx="2057400" cy="1261872"/>
          </a:xfrm>
          <a:prstGeom prst="roundRect">
            <a:avLst>
              <a:gd name="adj" fmla="val 7246"/>
            </a:avLst>
          </a:prstGeom>
          <a:solidFill>
            <a:srgbClr val="7B1FA2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9184" y="2313432"/>
            <a:ext cx="1911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8912" y="2724912"/>
            <a:ext cx="1691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" y="2788920"/>
            <a:ext cx="191109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quantity → digital signal (INPUT to IoT)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23160" y="2221992"/>
            <a:ext cx="2057400" cy="1261872"/>
          </a:xfrm>
          <a:prstGeom prst="roundRect">
            <a:avLst>
              <a:gd name="adj" fmla="val 7246"/>
            </a:avLst>
          </a:prstGeom>
          <a:solidFill>
            <a:srgbClr val="AD1457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96312" y="2313432"/>
            <a:ext cx="1911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606040" y="2724912"/>
            <a:ext cx="1691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2496312" y="2788920"/>
            <a:ext cx="191109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signal → physical action (OUTPUT from IoT)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90288" y="2221992"/>
            <a:ext cx="2057400" cy="1261872"/>
          </a:xfrm>
          <a:prstGeom prst="roundRect">
            <a:avLst>
              <a:gd name="adj" fmla="val 7246"/>
            </a:avLst>
          </a:prstGeom>
          <a:solidFill>
            <a:srgbClr val="FF6F00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63440" y="2313432"/>
            <a:ext cx="1911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73168" y="2724912"/>
            <a:ext cx="1691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2788920"/>
            <a:ext cx="191109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+ actuators + electronics on ONE tiny silicon chip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57416" y="2221992"/>
            <a:ext cx="2057400" cy="1261872"/>
          </a:xfrm>
          <a:prstGeom prst="roundRect">
            <a:avLst>
              <a:gd name="adj" fmla="val 7246"/>
            </a:avLst>
          </a:prstGeom>
          <a:solidFill>
            <a:srgbClr val="C62828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30568" y="2313432"/>
            <a:ext cx="1911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Object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940296" y="2724912"/>
            <a:ext cx="1691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830568" y="2788920"/>
            <a:ext cx="191109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+ Sensor/Actuator + Comms + Power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3575304"/>
            <a:ext cx="2057400" cy="1261872"/>
          </a:xfrm>
          <a:prstGeom prst="roundRect">
            <a:avLst>
              <a:gd name="adj" fmla="val 7246"/>
            </a:avLst>
          </a:prstGeom>
          <a:solidFill>
            <a:srgbClr val="1B5E20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29184" y="3666744"/>
            <a:ext cx="1911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38912" y="4078224"/>
            <a:ext cx="1691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29184" y="4142232"/>
            <a:ext cx="191109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of motes with coordinator/gateway to Internet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423160" y="3575304"/>
            <a:ext cx="2057400" cy="1261872"/>
          </a:xfrm>
          <a:prstGeom prst="roundRect">
            <a:avLst>
              <a:gd name="adj" fmla="val 7246"/>
            </a:avLst>
          </a:prstGeom>
          <a:solidFill>
            <a:srgbClr val="0D47A1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496312" y="3666744"/>
            <a:ext cx="1911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FFD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606040" y="4078224"/>
            <a:ext cx="1691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2496312" y="4142232"/>
            <a:ext cx="191109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Function Device — coordinator, router, or end device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90288" y="3575304"/>
            <a:ext cx="2057400" cy="1261872"/>
          </a:xfrm>
          <a:prstGeom prst="roundRect">
            <a:avLst>
              <a:gd name="adj" fmla="val 7246"/>
            </a:avLst>
          </a:prstGeom>
          <a:solidFill>
            <a:srgbClr val="00695C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663440" y="3666744"/>
            <a:ext cx="1911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RFD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773168" y="4078224"/>
            <a:ext cx="1691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663440" y="4142232"/>
            <a:ext cx="191109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— end device only, simpler, cheaper, lower power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57416" y="3575304"/>
            <a:ext cx="2057400" cy="1261872"/>
          </a:xfrm>
          <a:prstGeom prst="roundRect">
            <a:avLst>
              <a:gd name="adj" fmla="val 7246"/>
            </a:avLst>
          </a:prstGeom>
          <a:solidFill>
            <a:srgbClr val="4A148C"/>
          </a:solidFill>
          <a:ln/>
          <a:effectLst>
            <a:outerShdw sx="100000" sy="100000" kx="0" ky="0" algn="bl" rotWithShape="0" blurRad="50800" dist="25400" dir="2700000">
              <a:srgbClr val="888888">
                <a:alpha val="7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830568" y="3666744"/>
            <a:ext cx="1911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6LoWPAN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940296" y="4078224"/>
            <a:ext cx="1691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6830568" y="4142232"/>
            <a:ext cx="191109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compressed for 802.15.4 — 40 bytes → 2 bytes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423160"/>
            <a:ext cx="914400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478024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731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25786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and M2M  •  SDN &amp; NFV  •  Smart Objects  •  WSNs  •  Communication Criteria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115568" cy="402336"/>
          </a:xfrm>
          <a:prstGeom prst="roundRect">
            <a:avLst>
              <a:gd name="adj" fmla="val 18182"/>
            </a:avLst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00400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 &amp; IoT vs M2M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" y="3675888"/>
            <a:ext cx="1115568" cy="402336"/>
          </a:xfrm>
          <a:prstGeom prst="roundRect">
            <a:avLst>
              <a:gd name="adj" fmla="val 18182"/>
            </a:avLst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75888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&amp; NFV for IoT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74520" y="3200400"/>
            <a:ext cx="1115568" cy="402336"/>
          </a:xfrm>
          <a:prstGeom prst="roundRect">
            <a:avLst>
              <a:gd name="adj" fmla="val 18182"/>
            </a:avLst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1874520" y="3200400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Actuators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74520" y="3675888"/>
            <a:ext cx="1115568" cy="402336"/>
          </a:xfrm>
          <a:prstGeom prst="roundRect">
            <a:avLst>
              <a:gd name="adj" fmla="val 18182"/>
            </a:avLst>
          </a:prstGeom>
          <a:solidFill>
            <a:srgbClr val="00897B"/>
          </a:solidFill>
          <a:ln/>
        </p:spPr>
      </p:sp>
      <p:sp>
        <p:nvSpPr>
          <p:cNvPr id="17" name="Text 15"/>
          <p:cNvSpPr/>
          <p:nvPr/>
        </p:nvSpPr>
        <p:spPr>
          <a:xfrm>
            <a:off x="1874520" y="3675888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 &amp; Smart Objects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108960" y="3200400"/>
            <a:ext cx="1115568" cy="402336"/>
          </a:xfrm>
          <a:prstGeom prst="roundRect">
            <a:avLst>
              <a:gd name="adj" fmla="val 18182"/>
            </a:avLst>
          </a:prstGeom>
          <a:solidFill>
            <a:srgbClr val="00897B"/>
          </a:solidFill>
          <a:ln/>
        </p:spPr>
      </p:sp>
      <p:sp>
        <p:nvSpPr>
          <p:cNvPr id="19" name="Text 17"/>
          <p:cNvSpPr/>
          <p:nvPr/>
        </p:nvSpPr>
        <p:spPr>
          <a:xfrm>
            <a:off x="3108960" y="3200400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WSN Architecture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108960" y="3675888"/>
            <a:ext cx="1115568" cy="402336"/>
          </a:xfrm>
          <a:prstGeom prst="roundRect">
            <a:avLst>
              <a:gd name="adj" fmla="val 18182"/>
            </a:avLst>
          </a:prstGeom>
          <a:solidFill>
            <a:srgbClr val="00897B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0" y="3675888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WSN Protocols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43400" y="3200400"/>
            <a:ext cx="1115568" cy="402336"/>
          </a:xfrm>
          <a:prstGeom prst="roundRect">
            <a:avLst>
              <a:gd name="adj" fmla="val 18182"/>
            </a:avLst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3200400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 Criteria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" y="4224528"/>
            <a:ext cx="2011680" cy="2743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3159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PEMRT525 | KTU | S5 | JECC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6817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Textbooks: Cisco Press IoT Fundamentals • Bahga &amp; Madisetti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2026-07-21T09:07:51Z</dcterms:created>
  <dcterms:modified xsi:type="dcterms:W3CDTF">2026-07-21T09:07:51Z</dcterms:modified>
</cp:coreProperties>
</file>