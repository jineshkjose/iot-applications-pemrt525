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slide. Introduce the course and module. Total 4 modules, 36 hours. Module 1 covers IoT fundamentals – the foundation for all subsequent modules.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students the roadmap. 9 hours = ~1.5 hrs per major topic. Emphasize that Module 1 is the foundation – if this is clear, all other modules build on it easily.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students: what objects in their home could be 'smart'? Fridge, AC, water meter, door lock. Each one = a 'Thing'. When networked + smart = IoT.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 through each characteristic with a real-world example. Ask students to match each characteristic to a device they know. Dynamic = Nest thermostat. Unique Identity = Your Aadhaar card has a unique number – same concept.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Draw this on the board. Ask: A temperature sensor in a greenhouse → which layer? (Perception). The data it sends via Wi-Fi → which layer? (Network). The mobile app showing temperature → which layer? (Application).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5-layer model is more relevant for industrial and enterprise IoT. The extra layers (Processing/Middleware and Business) handle the complexity of managing thousands of devices and making business decisions from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available, show a NodeMCU or Raspberry Pi board. Walk through each component physically. Students should be able to identify: where is the MCU? Where is the Wi-Fi chip? What sensor is connected?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logical design describes WHAT the system does, not how the hardware is built. Seven functional blocks are abstract units of functionality present in any complete IoT system.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each block with an example: if you were designing a smart electricity meter — which block handles the sensor reading? (Device) Which block exposes the reading via an API? (Resource) Which block sends the reading to the utility server? (Communication).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analogies to make the models memorable. Request-Response = you call a friend, they answer (or not). Pub-Sub = you subscribe to a newspaper, it arrives every morning without you calling. Push-Pull = your email sits in the inbox until you open it. Exclusive Pair = you're on a live video call, both talking simultaneously.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Focus on exam-relevant differences: MQTT is the dominant IoT protocol (pub-sub). HTTP is familiar from web – synchronous. WebSocket is real-time bidirectional. Students are expected to explain and compare these for ESE Part 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Draw a mind map connecting 'IoT System' → each enabling technology. Ask: a smart agricultural system that monitors soil moisture across 500 sensors – which technologies are used? (WSN + Cloud + Big Data + IPv6 + Embedded).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exam point: be able to classify a given IoT system into one of the 6 levels. A Fitbit = Level 2 (syncs to phone) or Level 3 (cloud analytics). A smart city = Level 6. Ask: which level is your college's attendance system?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Templates are reusable design patterns. Ask students to draw the architecture for a smart college campus monitoring attendance, electricity usage, and classroom occupancy – which template or combination of templates would they use?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 all topics before the next class. Assign: Review the NPTEL Module 1 lectures at https://onlinecourses.nptel.ac.in/noc22_cs53/preview. Answer: What level is your smartphone's Google Maps navigation in the IoT levels model?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Remind students: CIE = 40 marks (Attendance 5, Internal Exam 15, Evaluate 10, Analyse 10). ESE = 60 marks (Part A: 8×3=24, Part B: 4×9=36). Module 1 concepts appear in BOTH Part A and Part 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4E7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4572000" cy="4572000"/>
          </a:xfrm>
          <a:prstGeom prst="ellipse">
            <a:avLst/>
          </a:prstGeom>
          <a:solidFill>
            <a:srgbClr val="2E74B5">
              <a:alpha val="25000"/>
            </a:srgbClr>
          </a:solidFill>
          <a:ln w="12700">
            <a:solidFill>
              <a:srgbClr val="2E74B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2743200"/>
            <a:ext cx="3657600" cy="3657600"/>
          </a:xfrm>
          <a:prstGeom prst="ellipse">
            <a:avLst/>
          </a:prstGeom>
          <a:solidFill>
            <a:srgbClr val="4A90D9">
              <a:alpha val="20000"/>
            </a:srgbClr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411480"/>
            <a:ext cx="2194560" cy="347472"/>
          </a:xfrm>
          <a:prstGeom prst="roundRect">
            <a:avLst>
              <a:gd name="adj" fmla="val 15789"/>
            </a:avLst>
          </a:prstGeom>
          <a:solidFill>
            <a:srgbClr val="00B0F0"/>
          </a:solidFill>
          <a:ln w="12700">
            <a:solidFill>
              <a:srgbClr val="00B0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1148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PEMRT525 | Semester S5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9601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B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IOT AND APPLICATIONS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15087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 1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457200" y="242316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 to IoT Technology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57200" y="3108960"/>
            <a:ext cx="8229600" cy="27432"/>
          </a:xfrm>
          <a:prstGeom prst="rect">
            <a:avLst/>
          </a:prstGeom>
          <a:solidFill>
            <a:srgbClr val="00B0F0"/>
          </a:solidFill>
          <a:ln w="12700">
            <a:solidFill>
              <a:srgbClr val="00B0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21868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Definitions &amp; Characteristics  •  Architecture  •  Physical &amp; Logical Design  •  Communication Models  •  Enabling Technologies  •  IoT Levels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57200" y="452628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C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 Hours: 9 Hrs  |  CO1: K2 – Understand IoT Fundamentals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2011680" cy="292608"/>
          </a:xfrm>
          <a:prstGeom prst="roundRect">
            <a:avLst>
              <a:gd name="adj" fmla="val 15625"/>
            </a:avLst>
          </a:prstGeom>
          <a:solidFill>
            <a:srgbClr val="00B0F0"/>
          </a:solidFill>
          <a:ln w="12700">
            <a:solidFill>
              <a:srgbClr val="00B0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OVERVIEW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Cover in Module 1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8412480" cy="0"/>
          </a:xfrm>
          <a:prstGeom prst="line">
            <a:avLst/>
          </a:prstGeom>
          <a:noFill/>
          <a:ln w="19050">
            <a:solidFill>
              <a:srgbClr val="2E74B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489204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IoT and Applications (PEMRT525) | Module 1 | S5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503920" y="489204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65760" y="1325880"/>
            <a:ext cx="4160520" cy="804672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" y="1527048"/>
            <a:ext cx="411480" cy="411480"/>
          </a:xfrm>
          <a:prstGeom prst="ellipse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" y="152704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87552" y="141732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Definitions &amp; Characteristics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87552" y="1746504"/>
            <a:ext cx="3429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IoT? Key properties of IoT systems.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65760" y="2240280"/>
            <a:ext cx="4160520" cy="804672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5488" y="2441448"/>
            <a:ext cx="411480" cy="411480"/>
          </a:xfrm>
          <a:prstGeom prst="ellipse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" y="244144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87552" y="233172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IoT Architectural View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87552" y="2660904"/>
            <a:ext cx="3429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3-layer and 5-layer architecture models.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65760" y="3154680"/>
            <a:ext cx="4160520" cy="804672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5488" y="3355848"/>
            <a:ext cx="411480" cy="411480"/>
          </a:xfrm>
          <a:prstGeom prst="ellipse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" y="335584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87552" y="324612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Physical Design of IoT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87552" y="3575304"/>
            <a:ext cx="3429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IoT node components and hardware.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65760" y="4069080"/>
            <a:ext cx="4160520" cy="804672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5488" y="4270248"/>
            <a:ext cx="411480" cy="411480"/>
          </a:xfrm>
          <a:prstGeom prst="ellipse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5488" y="427024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987552" y="416052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Logical Design &amp; Functional Blocks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87552" y="4489704"/>
            <a:ext cx="3429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functional blocks of an IoT system.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709160" y="1325880"/>
            <a:ext cx="4160520" cy="804672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818888" y="1527048"/>
            <a:ext cx="411480" cy="411480"/>
          </a:xfrm>
          <a:prstGeom prst="ellipse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18888" y="152704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330952" y="141732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IoT Communication Models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330952" y="1746504"/>
            <a:ext cx="3429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Request-Response, Pub-Sub, Push-Pull, Exclusive Pair.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709160" y="2240280"/>
            <a:ext cx="4160520" cy="804672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818888" y="2441448"/>
            <a:ext cx="411480" cy="411480"/>
          </a:xfrm>
          <a:prstGeom prst="ellipse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18888" y="244144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330952" y="233172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IoT Enabling Technologies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5330952" y="2660904"/>
            <a:ext cx="3429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WSN, Cloud, RFID, IPv6, Embedded Systems.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4709160" y="3154680"/>
            <a:ext cx="4160520" cy="804672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818888" y="3355848"/>
            <a:ext cx="411480" cy="411480"/>
          </a:xfrm>
          <a:prstGeom prst="ellipse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18888" y="335584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5330952" y="324612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IoT Levels &amp; Deployment Templates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5330952" y="3575304"/>
            <a:ext cx="3429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deployment levels with examples.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2011680" cy="292608"/>
          </a:xfrm>
          <a:prstGeom prst="roundRect">
            <a:avLst>
              <a:gd name="adj" fmla="val 15625"/>
            </a:avLst>
          </a:prstGeom>
          <a:solidFill>
            <a:srgbClr val="00B0F0"/>
          </a:solidFill>
          <a:ln w="12700">
            <a:solidFill>
              <a:srgbClr val="00B0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TOPIC 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the Internet of Things?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8412480" cy="0"/>
          </a:xfrm>
          <a:prstGeom prst="line">
            <a:avLst/>
          </a:prstGeom>
          <a:noFill/>
          <a:ln w="19050">
            <a:solidFill>
              <a:srgbClr val="2E74B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489204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IoT and Applications (PEMRT525) | Module 1 | S5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503920" y="489204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65760" y="1325880"/>
            <a:ext cx="5029200" cy="1554480"/>
          </a:xfrm>
          <a:prstGeom prst="roundRect">
            <a:avLst>
              <a:gd name="adj" fmla="val 5882"/>
            </a:avLst>
          </a:prstGeom>
          <a:solidFill>
            <a:srgbClr val="EBF3FB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48640" y="1417320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Definition (Bahga &amp; Madisetti):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1709928"/>
            <a:ext cx="4663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paradigm in which everyday objects are equipped with unique identifiers and connectivity, enabling them to collect, exchange, and act on data with minimal human intervention.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65760" y="3017520"/>
            <a:ext cx="2377440" cy="868680"/>
          </a:xfrm>
          <a:prstGeom prst="roundRect">
            <a:avLst>
              <a:gd name="adj" fmla="val 10526"/>
            </a:avLst>
          </a:prstGeom>
          <a:solidFill>
            <a:srgbClr val="1F4E79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301752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B0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75 Billion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365760" y="3493008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Connected devices by 2025 (Statista)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926080" y="3017520"/>
            <a:ext cx="2377440" cy="868680"/>
          </a:xfrm>
          <a:prstGeom prst="roundRect">
            <a:avLst>
              <a:gd name="adj" fmla="val 10526"/>
            </a:avLst>
          </a:prstGeom>
          <a:solidFill>
            <a:srgbClr val="1F4E79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926080" y="301752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$1.1 Trillion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2926080" y="3493008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Projected IoT market value (2026)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623560" y="1325880"/>
            <a:ext cx="3154680" cy="3200400"/>
          </a:xfrm>
          <a:prstGeom prst="roundRect">
            <a:avLst>
              <a:gd name="adj" fmla="val 2899"/>
            </a:avLst>
          </a:prstGeom>
          <a:solidFill>
            <a:srgbClr val="F0F4F8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715000" y="1417320"/>
            <a:ext cx="2971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Pillars of IoT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742432" y="1847088"/>
            <a:ext cx="365760" cy="365760"/>
          </a:xfrm>
          <a:prstGeom prst="ellipse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36208" y="1847088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Things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236208" y="2121408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Physical objects with sensors embedded in the environment.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742432" y="2743200"/>
            <a:ext cx="365760" cy="365760"/>
          </a:xfrm>
          <a:prstGeom prst="ellipse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36208" y="2743200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Connectivity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236208" y="301752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 links enabling data to flow between things and systems.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742432" y="3639312"/>
            <a:ext cx="365760" cy="36576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36208" y="3639312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Intelligence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236208" y="3913632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 and AI that transform raw data into useful actions.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2011680" cy="292608"/>
          </a:xfrm>
          <a:prstGeom prst="roundRect">
            <a:avLst>
              <a:gd name="adj" fmla="val 15625"/>
            </a:avLst>
          </a:prstGeom>
          <a:solidFill>
            <a:srgbClr val="00B0F0"/>
          </a:solidFill>
          <a:ln w="12700">
            <a:solidFill>
              <a:srgbClr val="00B0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TOPIC 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Characteristics of IoT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8412480" cy="0"/>
          </a:xfrm>
          <a:prstGeom prst="line">
            <a:avLst/>
          </a:prstGeom>
          <a:noFill/>
          <a:ln w="19050">
            <a:solidFill>
              <a:srgbClr val="2E74B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489204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IoT and Applications (PEMRT525) | Module 1 | S5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503920" y="489204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65760" y="1325880"/>
            <a:ext cx="205740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325880"/>
            <a:ext cx="2057400" cy="256032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645920"/>
            <a:ext cx="1874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Dynamic &amp; Self-Adapting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57200" y="2148840"/>
            <a:ext cx="1874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Adapts to context; e.g. smart thermostat learns patterns.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542032" y="1325880"/>
            <a:ext cx="205740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542032" y="1325880"/>
            <a:ext cx="2057400" cy="256032"/>
          </a:xfrm>
          <a:prstGeom prst="rect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33472" y="1645920"/>
            <a:ext cx="1874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Self-Configuring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2633472" y="2148840"/>
            <a:ext cx="1874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Plug-and-play; automatic firmware updates.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718304" y="1325880"/>
            <a:ext cx="205740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18304" y="1325880"/>
            <a:ext cx="2057400" cy="256032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09744" y="1645920"/>
            <a:ext cx="1874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Interoperable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809744" y="2148840"/>
            <a:ext cx="1874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protocols (MQTT, CoAP) across manufacturers.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894576" y="1325880"/>
            <a:ext cx="205740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894576" y="1325880"/>
            <a:ext cx="2057400" cy="2560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986016" y="1645920"/>
            <a:ext cx="1874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Unique Identity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986016" y="2148840"/>
            <a:ext cx="1874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device has a unique ID (IPv6, EPC) for tracking.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57200" y="3154680"/>
            <a:ext cx="274320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7200" y="3154680"/>
            <a:ext cx="2743200" cy="25603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3474720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Large Scale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548640" y="397764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Billions of devices; needs scalable infrastructure.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429000" y="3154680"/>
            <a:ext cx="274320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429000" y="3154680"/>
            <a:ext cx="2743200" cy="2560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520440" y="3474720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Sensing &amp; Actuation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3520440" y="397764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Sense environment and perform physical actions.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400800" y="3154680"/>
            <a:ext cx="274320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400800" y="3154680"/>
            <a:ext cx="2743200" cy="256032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92240" y="3474720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Ubiquitous Data Exchange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6492240" y="397764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 data flow between devices and cloud.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2011680" cy="292608"/>
          </a:xfrm>
          <a:prstGeom prst="roundRect">
            <a:avLst>
              <a:gd name="adj" fmla="val 15625"/>
            </a:avLst>
          </a:prstGeom>
          <a:solidFill>
            <a:srgbClr val="00B0F0"/>
          </a:solidFill>
          <a:ln w="12700">
            <a:solidFill>
              <a:srgbClr val="00B0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TOPIC 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IoT Architectural View – 3-Layer Model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8412480" cy="0"/>
          </a:xfrm>
          <a:prstGeom prst="line">
            <a:avLst/>
          </a:prstGeom>
          <a:noFill/>
          <a:ln w="19050">
            <a:solidFill>
              <a:srgbClr val="2E74B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489204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IoT and Applications (PEMRT525) | Module 1 | S5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503920" y="489204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65760" y="1298448"/>
            <a:ext cx="4114800" cy="868680"/>
          </a:xfrm>
          <a:prstGeom prst="roundRect">
            <a:avLst>
              <a:gd name="adj" fmla="val 8421"/>
            </a:avLst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2920" y="134416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 Layer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02920" y="1719072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Home  •  Healthcare  •  Agriculture  •  Smart City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286000" y="2185416"/>
            <a:ext cx="0" cy="100584"/>
          </a:xfrm>
          <a:prstGeom prst="line">
            <a:avLst/>
          </a:prstGeom>
          <a:noFill/>
          <a:ln w="25400">
            <a:solidFill>
              <a:srgbClr val="2E74B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2331720"/>
            <a:ext cx="4114800" cy="868680"/>
          </a:xfrm>
          <a:prstGeom prst="roundRect">
            <a:avLst>
              <a:gd name="adj" fmla="val 8421"/>
            </a:avLst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02920" y="237744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Network Layer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02920" y="2752344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Wi-Fi  •  4G/5G  •  ZigBee  •  LoRa  •  Bluetooth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286000" y="3218688"/>
            <a:ext cx="0" cy="100584"/>
          </a:xfrm>
          <a:prstGeom prst="line">
            <a:avLst/>
          </a:prstGeom>
          <a:noFill/>
          <a:ln w="25400">
            <a:solidFill>
              <a:srgbClr val="2E74B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3364992"/>
            <a:ext cx="4114800" cy="868680"/>
          </a:xfrm>
          <a:prstGeom prst="roundRect">
            <a:avLst>
              <a:gd name="adj" fmla="val 8421"/>
            </a:avLst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02920" y="341071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Perception Layer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02920" y="3785616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Temperature Sensor  •  GPS  •  RFID Tag  •  Camera  •  Actuator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54880" y="1298448"/>
            <a:ext cx="4023360" cy="868680"/>
          </a:xfrm>
          <a:prstGeom prst="roundRect">
            <a:avLst>
              <a:gd name="adj" fmla="val 10526"/>
            </a:avLst>
          </a:prstGeom>
          <a:solidFill>
            <a:srgbClr val="EBF3FB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46320" y="1545336"/>
            <a:ext cx="365760" cy="365760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0" y="15453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321808" y="1408176"/>
            <a:ext cx="3337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Delivers application-specific services to end users via dashboards and apps.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754880" y="2331720"/>
            <a:ext cx="4023360" cy="868680"/>
          </a:xfrm>
          <a:prstGeom prst="roundRect">
            <a:avLst>
              <a:gd name="adj" fmla="val 10526"/>
            </a:avLst>
          </a:prstGeom>
          <a:solidFill>
            <a:srgbClr val="EBF3FB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846320" y="2578608"/>
            <a:ext cx="365760" cy="365760"/>
          </a:xfrm>
          <a:prstGeom prst="ellipse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0" y="25786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321808" y="2441448"/>
            <a:ext cx="3337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Transmits data from devices to processing systems. Handles routing and security.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4754880" y="3364992"/>
            <a:ext cx="4023360" cy="868680"/>
          </a:xfrm>
          <a:prstGeom prst="roundRect">
            <a:avLst>
              <a:gd name="adj" fmla="val 10526"/>
            </a:avLst>
          </a:prstGeom>
          <a:solidFill>
            <a:srgbClr val="EBF3FB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846320" y="3611880"/>
            <a:ext cx="365760" cy="365760"/>
          </a:xfrm>
          <a:prstGeom prst="ellipse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46320" y="3611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321808" y="3474720"/>
            <a:ext cx="3337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Physical layer: senses the environment and collects raw data from the physical world.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365760" y="43434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74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Flow ↑↓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2011680" cy="292608"/>
          </a:xfrm>
          <a:prstGeom prst="roundRect">
            <a:avLst>
              <a:gd name="adj" fmla="val 15625"/>
            </a:avLst>
          </a:prstGeom>
          <a:solidFill>
            <a:srgbClr val="00B0F0"/>
          </a:solidFill>
          <a:ln w="12700">
            <a:solidFill>
              <a:srgbClr val="00B0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TOPIC 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IoT Architectural View – 5-Layer Model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8412480" cy="0"/>
          </a:xfrm>
          <a:prstGeom prst="line">
            <a:avLst/>
          </a:prstGeom>
          <a:noFill/>
          <a:ln w="19050">
            <a:solidFill>
              <a:srgbClr val="2E74B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489204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IoT and Applications (PEMRT525) | Module 1 | S5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503920" y="489204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" y="1298448"/>
            <a:ext cx="4297680" cy="493776"/>
          </a:xfrm>
          <a:prstGeom prst="roundRect">
            <a:avLst>
              <a:gd name="adj" fmla="val 11111"/>
            </a:avLst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298448"/>
            <a:ext cx="41148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Layer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846320" y="1298448"/>
            <a:ext cx="3931920" cy="493776"/>
          </a:xfrm>
          <a:prstGeom prst="roundRect">
            <a:avLst>
              <a:gd name="adj" fmla="val 18519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956048" y="1335024"/>
            <a:ext cx="3749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models, flowcharts, analytics output for management decisions.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1865376"/>
            <a:ext cx="4297680" cy="493776"/>
          </a:xfrm>
          <a:prstGeom prst="roundRect">
            <a:avLst>
              <a:gd name="adj" fmla="val 11111"/>
            </a:avLst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1865376"/>
            <a:ext cx="41148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 Layer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846320" y="1865376"/>
            <a:ext cx="3931920" cy="493776"/>
          </a:xfrm>
          <a:prstGeom prst="roundRect">
            <a:avLst>
              <a:gd name="adj" fmla="val 18519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956048" y="1901952"/>
            <a:ext cx="3749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Manages specific IoT applications: smart city, healthcare, agriculture.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2432304"/>
            <a:ext cx="4297680" cy="493776"/>
          </a:xfrm>
          <a:prstGeom prst="roundRect">
            <a:avLst>
              <a:gd name="adj" fmla="val 11111"/>
            </a:avLst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432304"/>
            <a:ext cx="41148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Processing Layer (Middleware)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846320" y="2432304"/>
            <a:ext cx="3931920" cy="493776"/>
          </a:xfrm>
          <a:prstGeom prst="roundRect">
            <a:avLst>
              <a:gd name="adj" fmla="val 18519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956048" y="2468880"/>
            <a:ext cx="3749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Stores, analyses, and processes data. Uses cloud, big data, databases.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4320" y="2999232"/>
            <a:ext cx="4297680" cy="493776"/>
          </a:xfrm>
          <a:prstGeom prst="roundRect">
            <a:avLst>
              <a:gd name="adj" fmla="val 11111"/>
            </a:avLst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2999232"/>
            <a:ext cx="41148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Transport Layer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846320" y="2999232"/>
            <a:ext cx="3931920" cy="493776"/>
          </a:xfrm>
          <a:prstGeom prst="roundRect">
            <a:avLst>
              <a:gd name="adj" fmla="val 18519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956048" y="3035808"/>
            <a:ext cx="3749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Transmits data between perception and processing via Wi-Fi, 4G, etc.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74320" y="3566160"/>
            <a:ext cx="4297680" cy="493776"/>
          </a:xfrm>
          <a:prstGeom prst="roundRect">
            <a:avLst>
              <a:gd name="adj" fmla="val 11111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566160"/>
            <a:ext cx="41148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Perception Layer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846320" y="3566160"/>
            <a:ext cx="3931920" cy="493776"/>
          </a:xfrm>
          <a:prstGeom prst="roundRect">
            <a:avLst>
              <a:gd name="adj" fmla="val 18519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956048" y="3602736"/>
            <a:ext cx="3749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Physical sensors and actuators collecting real-world data.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74320" y="4297680"/>
            <a:ext cx="8595360" cy="384048"/>
          </a:xfrm>
          <a:prstGeom prst="roundRect">
            <a:avLst>
              <a:gd name="adj" fmla="val 14286"/>
            </a:avLst>
          </a:prstGeom>
          <a:solidFill>
            <a:srgbClr val="EBF3FB"/>
          </a:solidFill>
          <a:ln w="6350">
            <a:solidFill>
              <a:srgbClr val="2E74B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11480" y="4297680"/>
            <a:ext cx="8321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difference from 3-layer: adds Processing (Middleware) layer and Business layer for enterprise-grade IoT deployments.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2011680" cy="292608"/>
          </a:xfrm>
          <a:prstGeom prst="roundRect">
            <a:avLst>
              <a:gd name="adj" fmla="val 15625"/>
            </a:avLst>
          </a:prstGeom>
          <a:solidFill>
            <a:srgbClr val="00B0F0"/>
          </a:solidFill>
          <a:ln w="12700">
            <a:solidFill>
              <a:srgbClr val="00B0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TOPIC 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Physical Design of IoT – Node Components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8412480" cy="0"/>
          </a:xfrm>
          <a:prstGeom prst="line">
            <a:avLst/>
          </a:prstGeom>
          <a:noFill/>
          <a:ln w="19050">
            <a:solidFill>
              <a:srgbClr val="2E74B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489204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IoT and Applications (PEMRT525) | Module 1 | S5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503920" y="489204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65760" y="1298448"/>
            <a:ext cx="4160520" cy="749808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463040"/>
            <a:ext cx="420624" cy="420624"/>
          </a:xfrm>
          <a:prstGeom prst="roundRect">
            <a:avLst>
              <a:gd name="adj" fmla="val 17391"/>
            </a:avLst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4630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87552" y="1389888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Microcontroller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87552" y="170078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ESP32, ARM Cortex-M, Arduino Uno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65760" y="2185416"/>
            <a:ext cx="4160520" cy="749808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2350008"/>
            <a:ext cx="420624" cy="420624"/>
          </a:xfrm>
          <a:prstGeom prst="roundRect">
            <a:avLst>
              <a:gd name="adj" fmla="val 17391"/>
            </a:avLst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3500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87552" y="2276856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Memory (RAM/Flash)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87552" y="258775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Stores program code &amp; sensor data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65760" y="3072384"/>
            <a:ext cx="4160520" cy="749808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3236976"/>
            <a:ext cx="420624" cy="420624"/>
          </a:xfrm>
          <a:prstGeom prst="roundRect">
            <a:avLst>
              <a:gd name="adj" fmla="val 17391"/>
            </a:avLst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2369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87552" y="3163824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Sensors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87552" y="34747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DHT11 (temp/humidity), PIR, LDR, GPS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65760" y="3959352"/>
            <a:ext cx="4160520" cy="749808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57200" y="4123944"/>
            <a:ext cx="420624" cy="420624"/>
          </a:xfrm>
          <a:prstGeom prst="roundRect">
            <a:avLst>
              <a:gd name="adj" fmla="val 17391"/>
            </a:avLst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41239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987552" y="4050792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Actuators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87552" y="436168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Motor, Relay, Servo, Buzzer, LED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709160" y="1298448"/>
            <a:ext cx="4160520" cy="749808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800600" y="1463040"/>
            <a:ext cx="420624" cy="420624"/>
          </a:xfrm>
          <a:prstGeom prst="roundRect">
            <a:avLst>
              <a:gd name="adj" fmla="val 17391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00600" y="14630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330952" y="1389888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Communication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330952" y="170078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Wi-Fi (ESP8266), BLE, ZigBee, LoRa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709160" y="2185416"/>
            <a:ext cx="4160520" cy="749808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800600" y="2350008"/>
            <a:ext cx="420624" cy="420624"/>
          </a:xfrm>
          <a:prstGeom prst="roundRect">
            <a:avLst>
              <a:gd name="adj" fmla="val 17391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00600" y="23500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330952" y="2276856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Source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5330952" y="258775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Battery, Solar, Mains; Energy Harvesting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4709160" y="3072384"/>
            <a:ext cx="4160520" cy="749808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800600" y="3236976"/>
            <a:ext cx="420624" cy="420624"/>
          </a:xfrm>
          <a:prstGeom prst="roundRect">
            <a:avLst>
              <a:gd name="adj" fmla="val 17391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00600" y="32369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5330952" y="3163824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I/O Interface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5330952" y="34747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GPIO, UART, SPI, I2C peripherals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F4E7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0" y="3200400"/>
            <a:ext cx="3200400" cy="3200400"/>
          </a:xfrm>
          <a:prstGeom prst="ellipse">
            <a:avLst/>
          </a:prstGeom>
          <a:solidFill>
            <a:srgbClr val="2E74B5">
              <a:alpha val="20000"/>
            </a:srgbClr>
          </a:solidFill>
          <a:ln w="12700">
            <a:solidFill>
              <a:srgbClr val="2E74B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B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TOPIC 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Logical Design of IoT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188720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B0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IoT Functional Blocks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1874520"/>
            <a:ext cx="1143000" cy="914400"/>
          </a:xfrm>
          <a:prstGeom prst="roundRect">
            <a:avLst>
              <a:gd name="adj" fmla="val 10000"/>
            </a:avLst>
          </a:prstGeom>
          <a:solidFill>
            <a:srgbClr val="1F4E79"/>
          </a:solidFill>
          <a:ln w="381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65760" y="1929384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B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65760" y="2276856"/>
            <a:ext cx="1143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Device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645920" y="1874520"/>
            <a:ext cx="1143000" cy="914400"/>
          </a:xfrm>
          <a:prstGeom prst="roundRect">
            <a:avLst>
              <a:gd name="adj" fmla="val 10000"/>
            </a:avLst>
          </a:prstGeom>
          <a:solidFill>
            <a:srgbClr val="21295C"/>
          </a:solidFill>
          <a:ln w="381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645920" y="1929384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B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645920" y="2276856"/>
            <a:ext cx="1143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Resource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926080" y="1874520"/>
            <a:ext cx="1143000" cy="914400"/>
          </a:xfrm>
          <a:prstGeom prst="roundRect">
            <a:avLst>
              <a:gd name="adj" fmla="val 10000"/>
            </a:avLst>
          </a:prstGeom>
          <a:solidFill>
            <a:srgbClr val="2E74B5"/>
          </a:solidFill>
          <a:ln w="381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926080" y="1929384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B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926080" y="2276856"/>
            <a:ext cx="1143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Communication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206240" y="1874520"/>
            <a:ext cx="1143000" cy="914400"/>
          </a:xfrm>
          <a:prstGeom prst="roundRect">
            <a:avLst>
              <a:gd name="adj" fmla="val 10000"/>
            </a:avLst>
          </a:prstGeom>
          <a:solidFill>
            <a:srgbClr val="4A90D9"/>
          </a:solidFill>
          <a:ln w="381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206240" y="1929384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B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206240" y="2276856"/>
            <a:ext cx="1143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2880360"/>
            <a:ext cx="1143000" cy="914400"/>
          </a:xfrm>
          <a:prstGeom prst="roundRect">
            <a:avLst>
              <a:gd name="adj" fmla="val 10000"/>
            </a:avLst>
          </a:prstGeom>
          <a:solidFill>
            <a:srgbClr val="028090"/>
          </a:solidFill>
          <a:ln w="381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65760" y="2935224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B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365760" y="3282696"/>
            <a:ext cx="1143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645920" y="2880360"/>
            <a:ext cx="1143000" cy="914400"/>
          </a:xfrm>
          <a:prstGeom prst="roundRect">
            <a:avLst>
              <a:gd name="adj" fmla="val 10000"/>
            </a:avLst>
          </a:prstGeom>
          <a:solidFill>
            <a:srgbClr val="10B981"/>
          </a:solidFill>
          <a:ln w="381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1645920" y="2935224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B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645920" y="3282696"/>
            <a:ext cx="1143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926080" y="2880360"/>
            <a:ext cx="1143000" cy="914400"/>
          </a:xfrm>
          <a:prstGeom prst="roundRect">
            <a:avLst>
              <a:gd name="adj" fmla="val 10000"/>
            </a:avLst>
          </a:prstGeom>
          <a:solidFill>
            <a:srgbClr val="F59E0B"/>
          </a:solidFill>
          <a:ln w="381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2926080" y="2935224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B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2926080" y="3282696"/>
            <a:ext cx="1143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65760" y="388620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A9C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(Bahga &amp; Madisetti model – next slide expands each block)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65760" y="489204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A9C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IoT and Applications (PEMRT525) | Module 1 | S5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8503920" y="489204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9C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2011680" cy="292608"/>
          </a:xfrm>
          <a:prstGeom prst="roundRect">
            <a:avLst>
              <a:gd name="adj" fmla="val 15625"/>
            </a:avLst>
          </a:prstGeom>
          <a:solidFill>
            <a:srgbClr val="00B0F0"/>
          </a:solidFill>
          <a:ln w="12700">
            <a:solidFill>
              <a:srgbClr val="00B0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TOPIC 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IoT Functional Blocks – Details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8412480" cy="0"/>
          </a:xfrm>
          <a:prstGeom prst="line">
            <a:avLst/>
          </a:prstGeom>
          <a:noFill/>
          <a:ln w="19050">
            <a:solidFill>
              <a:srgbClr val="2E74B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489204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IoT and Applications (PEMRT525) | Module 1 | S5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503920" y="489204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65760" y="1298448"/>
            <a:ext cx="4160520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" y="1472184"/>
            <a:ext cx="365760" cy="365760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" y="14721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60120" y="137160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Device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60120" y="1664208"/>
            <a:ext cx="3429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Physical IoT node with sensing, actuation &amp; control capabilities.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709160" y="1298448"/>
            <a:ext cx="4160520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818888" y="1472184"/>
            <a:ext cx="365760" cy="365760"/>
          </a:xfrm>
          <a:prstGeom prst="ellipse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18888" y="14721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303520" y="137160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Resource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303520" y="1664208"/>
            <a:ext cx="3429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 APIs and firmware providing hardware abstraction.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65760" y="2148840"/>
            <a:ext cx="4160520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5488" y="2322576"/>
            <a:ext cx="365760" cy="365760"/>
          </a:xfrm>
          <a:prstGeom prst="ellipse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" y="23225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60120" y="2221992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Communication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60120" y="2514600"/>
            <a:ext cx="3429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Connectivity between devices, gateways &amp; cloud (MQTT, CoAP).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709160" y="2148840"/>
            <a:ext cx="4160520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818888" y="2322576"/>
            <a:ext cx="365760" cy="365760"/>
          </a:xfrm>
          <a:prstGeom prst="ellipse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18888" y="23225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303520" y="2221992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Services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303520" y="2514600"/>
            <a:ext cx="3429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Device monitoring, data publishing and subscription services.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65760" y="2999232"/>
            <a:ext cx="4160520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75488" y="3172968"/>
            <a:ext cx="365760" cy="36576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5488" y="31729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960120" y="3072384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Management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960120" y="3364992"/>
            <a:ext cx="3429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Device configuration, diagnostics and OTA firmware updates.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709160" y="2999232"/>
            <a:ext cx="4160520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818888" y="3172968"/>
            <a:ext cx="365760" cy="36576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18888" y="31729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303520" y="3072384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5303520" y="3364992"/>
            <a:ext cx="3429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Authentication, authorization, encryption and message integrity.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2377440" y="3849624"/>
            <a:ext cx="4389120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2487168" y="4023360"/>
            <a:ext cx="365760" cy="36576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487168" y="4023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2971800" y="392277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2971800" y="4215384"/>
            <a:ext cx="3657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interface, dashboards, analytics and control portals.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F4E7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4A90D9">
              <a:alpha val="15000"/>
            </a:srgbClr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TOPIC 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IoT Communication Models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365760" y="1188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IoT devices exchange data – 4 models defined by the Internet Architecture Board (IAB)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828800"/>
            <a:ext cx="2011680" cy="2834640"/>
          </a:xfrm>
          <a:prstGeom prst="roundRect">
            <a:avLst>
              <a:gd name="adj" fmla="val 5455"/>
            </a:avLst>
          </a:prstGeom>
          <a:solidFill>
            <a:srgbClr val="1F4E79"/>
          </a:solidFill>
          <a:ln w="381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65760" y="187452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B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⇄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57200" y="251460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Request-Response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309067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B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HTTP, CoAP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3474720"/>
            <a:ext cx="1463040" cy="0"/>
          </a:xfrm>
          <a:prstGeom prst="line">
            <a:avLst/>
          </a:prstGeom>
          <a:noFill/>
          <a:ln w="6350">
            <a:solidFill>
              <a:srgbClr val="CADCF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529584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A9C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Analogy: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57200" y="376732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Telephone call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560320" y="1828800"/>
            <a:ext cx="2011680" cy="2834640"/>
          </a:xfrm>
          <a:prstGeom prst="roundRect">
            <a:avLst>
              <a:gd name="adj" fmla="val 5455"/>
            </a:avLst>
          </a:prstGeom>
          <a:solidFill>
            <a:srgbClr val="2E74B5"/>
          </a:solidFill>
          <a:ln w="381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560320" y="187452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B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⊕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2651760" y="251460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Publish-Subscribe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651760" y="309067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B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MQTT, AMQP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834640" y="3474720"/>
            <a:ext cx="1463040" cy="0"/>
          </a:xfrm>
          <a:prstGeom prst="line">
            <a:avLst/>
          </a:prstGeom>
          <a:noFill/>
          <a:ln w="6350">
            <a:solidFill>
              <a:srgbClr val="CADCF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3529584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A9C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Analogy: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2651760" y="376732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Newspaper subscription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754880" y="1828800"/>
            <a:ext cx="2011680" cy="2834640"/>
          </a:xfrm>
          <a:prstGeom prst="roundRect">
            <a:avLst>
              <a:gd name="adj" fmla="val 5455"/>
            </a:avLst>
          </a:prstGeom>
          <a:solidFill>
            <a:srgbClr val="1565C0"/>
          </a:solidFill>
          <a:ln w="381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754880" y="187452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B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⇩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4846320" y="251460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Push-Pull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846320" y="309067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B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Kafka, RabbitMQ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029200" y="3474720"/>
            <a:ext cx="1463040" cy="0"/>
          </a:xfrm>
          <a:prstGeom prst="line">
            <a:avLst/>
          </a:prstGeom>
          <a:noFill/>
          <a:ln w="6350">
            <a:solidFill>
              <a:srgbClr val="CADCF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0" y="3529584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A9C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Analogy: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846320" y="376732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inbox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949440" y="1828800"/>
            <a:ext cx="2011680" cy="2834640"/>
          </a:xfrm>
          <a:prstGeom prst="roundRect">
            <a:avLst>
              <a:gd name="adj" fmla="val 5455"/>
            </a:avLst>
          </a:prstGeom>
          <a:solidFill>
            <a:srgbClr val="028090"/>
          </a:solidFill>
          <a:ln w="381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949440" y="187452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B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⇔</a:t>
            </a:r>
            <a:endParaRPr lang="en-US" sz="2800" dirty="0"/>
          </a:p>
        </p:txBody>
      </p:sp>
      <p:sp>
        <p:nvSpPr>
          <p:cNvPr id="29" name="Text 27"/>
          <p:cNvSpPr/>
          <p:nvPr/>
        </p:nvSpPr>
        <p:spPr>
          <a:xfrm>
            <a:off x="7040880" y="251460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Exclusive Pair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7040880" y="309067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B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WebSocket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7223760" y="3474720"/>
            <a:ext cx="1463040" cy="0"/>
          </a:xfrm>
          <a:prstGeom prst="line">
            <a:avLst/>
          </a:prstGeom>
          <a:noFill/>
          <a:ln w="6350">
            <a:solidFill>
              <a:srgbClr val="CADCF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040880" y="3529584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A9C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Analogy: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7040880" y="376732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 call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365760" y="489204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C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IoT and Applications (PEMRT525) | Module 1 | S5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8503920" y="489204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9C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2011680" cy="292608"/>
          </a:xfrm>
          <a:prstGeom prst="roundRect">
            <a:avLst>
              <a:gd name="adj" fmla="val 15625"/>
            </a:avLst>
          </a:prstGeom>
          <a:solidFill>
            <a:srgbClr val="00B0F0"/>
          </a:solidFill>
          <a:ln w="12700">
            <a:solidFill>
              <a:srgbClr val="00B0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TOPIC 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Communication Models – Detailed Comparison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8412480" cy="0"/>
          </a:xfrm>
          <a:prstGeom prst="line">
            <a:avLst/>
          </a:prstGeom>
          <a:noFill/>
          <a:ln w="19050">
            <a:solidFill>
              <a:srgbClr val="2E74B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489204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IoT and Applications (PEMRT525) | Module 1 | S5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503920" y="489204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298448"/>
          <a:ext cx="8503920" cy="3383280"/>
        </p:xfrm>
        <a:graphic>
          <a:graphicData uri="http://schemas.openxmlformats.org/drawingml/2006/table">
            <a:tbl>
              <a:tblPr/>
              <a:tblGrid>
                <a:gridCol w="1554480"/>
                <a:gridCol w="1737360"/>
                <a:gridCol w="1188720"/>
                <a:gridCol w="1188720"/>
                <a:gridCol w="1554480"/>
                <a:gridCol w="1554480"/>
              </a:tblGrid>
              <a:tr h="6766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Model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Direction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Synchronous?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Protocol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Best For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Limitation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E1E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Request-Response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1E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Client → Server → Client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1E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1E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HTTP, CoAP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1E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On-demand queries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1E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 overhead for frequent polling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E1E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Publish-Subscribe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1E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Publisher → Broker → Subscribers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1E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(async)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1E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MQTT, AMQP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1E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Real-time data streams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1E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Requires broker infrastructure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E1E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Push-Pull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1E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Producer → Queue → Consumer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1E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(async)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1E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Kafka, RabbitMQ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1E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 pipelines &amp; batch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1E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Latency depends on queue depth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E1E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Exclusive Pair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1E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Bi-directional (persistent)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1E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 (real-time)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1E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WebSocket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1E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Interactive control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1E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Stateful; harder to scale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2011680" cy="292608"/>
          </a:xfrm>
          <a:prstGeom prst="roundRect">
            <a:avLst>
              <a:gd name="adj" fmla="val 15625"/>
            </a:avLst>
          </a:prstGeom>
          <a:solidFill>
            <a:srgbClr val="00B0F0"/>
          </a:solidFill>
          <a:ln w="12700">
            <a:solidFill>
              <a:srgbClr val="00B0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TOPIC 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IoT Enabling Technologies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8412480" cy="0"/>
          </a:xfrm>
          <a:prstGeom prst="line">
            <a:avLst/>
          </a:prstGeom>
          <a:noFill/>
          <a:ln w="19050">
            <a:solidFill>
              <a:srgbClr val="2E74B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489204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IoT and Applications (PEMRT525) | Module 1 | S5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503920" y="489204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65760" y="1298448"/>
            <a:ext cx="2697480" cy="1627632"/>
          </a:xfrm>
          <a:prstGeom prst="roundRect">
            <a:avLst>
              <a:gd name="adj" fmla="val 5618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435608"/>
            <a:ext cx="548640" cy="548640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4356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◉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75488" y="2075688"/>
            <a:ext cx="2487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Wireless Sensor Networks (WSN)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75488" y="2468880"/>
            <a:ext cx="2487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Distributed sensor nodes collecting environmental data. Foundation of IoT data collection.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91840" y="1298448"/>
            <a:ext cx="2697480" cy="1627632"/>
          </a:xfrm>
          <a:prstGeom prst="roundRect">
            <a:avLst>
              <a:gd name="adj" fmla="val 5618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383280" y="1435608"/>
            <a:ext cx="548640" cy="548640"/>
          </a:xfrm>
          <a:prstGeom prst="ellipse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83280" y="14356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☁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401568" y="2075688"/>
            <a:ext cx="2487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Cloud Computing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3401568" y="2468880"/>
            <a:ext cx="2487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Infrastructure for storing and processing IoT data at scale (AWS IoT, Azure IoT Hub).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217920" y="1298448"/>
            <a:ext cx="2697480" cy="1627632"/>
          </a:xfrm>
          <a:prstGeom prst="roundRect">
            <a:avLst>
              <a:gd name="adj" fmla="val 5618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309360" y="1435608"/>
            <a:ext cx="548640" cy="548640"/>
          </a:xfrm>
          <a:prstGeom prst="ellipse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09360" y="14356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∑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327648" y="2075688"/>
            <a:ext cx="2487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Big Data Analytics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327648" y="2468880"/>
            <a:ext cx="2487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 (Hadoop, Spark) for extracting insights from massive IoT data streams.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65760" y="3127248"/>
            <a:ext cx="2697480" cy="1627632"/>
          </a:xfrm>
          <a:prstGeom prst="roundRect">
            <a:avLst>
              <a:gd name="adj" fmla="val 5618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57200" y="3264408"/>
            <a:ext cx="548640" cy="54864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32644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⚙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75488" y="3904488"/>
            <a:ext cx="2487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Embedded Systems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475488" y="4297680"/>
            <a:ext cx="2487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MCUs/MPUs (Arduino, ESP32, Raspberry Pi) running IoT firmware and RTOS.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291840" y="3127248"/>
            <a:ext cx="2697480" cy="1627632"/>
          </a:xfrm>
          <a:prstGeom prst="roundRect">
            <a:avLst>
              <a:gd name="adj" fmla="val 5618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383280" y="3264408"/>
            <a:ext cx="548640" cy="5486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383280" y="32644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📡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3401568" y="3904488"/>
            <a:ext cx="2487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RFID &amp; NFC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3401568" y="4297680"/>
            <a:ext cx="2487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Wireless identification of objects. NFC = short range (&lt;20 cm). RFID = inventory tracking.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217920" y="3127248"/>
            <a:ext cx="2697480" cy="1627632"/>
          </a:xfrm>
          <a:prstGeom prst="roundRect">
            <a:avLst>
              <a:gd name="adj" fmla="val 5618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309360" y="3264408"/>
            <a:ext cx="548640" cy="5486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09360" y="32644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327648" y="3904488"/>
            <a:ext cx="2487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IPv6 / 6LoWPAN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6327648" y="4297680"/>
            <a:ext cx="2487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IPv6 provides 3.4×10³⁸ addresses for every IoT device. 6LoWPAN = IPv6 over 802.15.4.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2011680" cy="292608"/>
          </a:xfrm>
          <a:prstGeom prst="roundRect">
            <a:avLst>
              <a:gd name="adj" fmla="val 15625"/>
            </a:avLst>
          </a:prstGeom>
          <a:solidFill>
            <a:srgbClr val="00B0F0"/>
          </a:solidFill>
          <a:ln w="12700">
            <a:solidFill>
              <a:srgbClr val="00B0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TOPIC 7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IoT Levels – Deployment Complexity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8412480" cy="0"/>
          </a:xfrm>
          <a:prstGeom prst="line">
            <a:avLst/>
          </a:prstGeom>
          <a:noFill/>
          <a:ln w="19050">
            <a:solidFill>
              <a:srgbClr val="2E74B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489204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IoT and Applications (PEMRT525) | Module 1 | S5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503920" y="489204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65760" y="1298448"/>
            <a:ext cx="2697480" cy="1609344"/>
          </a:xfrm>
          <a:prstGeom prst="roundRect">
            <a:avLst>
              <a:gd name="adj" fmla="val 5682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298448"/>
            <a:ext cx="2697480" cy="411480"/>
          </a:xfrm>
          <a:prstGeom prst="round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298448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L1  |  Single Node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1773936"/>
            <a:ext cx="25146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sensing &amp; analysis. No cloud. Standalone device.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395728"/>
            <a:ext cx="25146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450592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e.g. Standalone thermostat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91840" y="1298448"/>
            <a:ext cx="2697480" cy="1609344"/>
          </a:xfrm>
          <a:prstGeom prst="roundRect">
            <a:avLst>
              <a:gd name="adj" fmla="val 5682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91840" y="1298448"/>
            <a:ext cx="2697480" cy="411480"/>
          </a:xfrm>
          <a:prstGeom prst="round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83280" y="1298448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L2  |  + Cloud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383280" y="1773936"/>
            <a:ext cx="25146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 uploads data to cloud for storage and analysis.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383280" y="2395728"/>
            <a:ext cx="25146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83280" y="2450592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4A9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e.g. Weather station → cloud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217920" y="1298448"/>
            <a:ext cx="2697480" cy="1609344"/>
          </a:xfrm>
          <a:prstGeom prst="roundRect">
            <a:avLst>
              <a:gd name="adj" fmla="val 5682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217920" y="1298448"/>
            <a:ext cx="2697480" cy="411480"/>
          </a:xfrm>
          <a:prstGeom prst="roundRect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09360" y="1298448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L3  |  + Big Data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309360" y="1773936"/>
            <a:ext cx="25146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with big data analytics for large-volume processing.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309360" y="2395728"/>
            <a:ext cx="25146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09360" y="2450592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2E74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e.g. Industrial vibration monitoring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65760" y="3108960"/>
            <a:ext cx="2697480" cy="1609344"/>
          </a:xfrm>
          <a:prstGeom prst="roundRect">
            <a:avLst>
              <a:gd name="adj" fmla="val 5682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65760" y="3108960"/>
            <a:ext cx="2697480" cy="411480"/>
          </a:xfrm>
          <a:prstGeom prst="round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310896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L4  |  Multi-Node + Cloud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57200" y="3584448"/>
            <a:ext cx="25146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Multiple sensors uploading to a single cloud.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57200" y="4206240"/>
            <a:ext cx="25146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4261104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e.g. Smart parking system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291840" y="3108960"/>
            <a:ext cx="2697480" cy="1609344"/>
          </a:xfrm>
          <a:prstGeom prst="roundRect">
            <a:avLst>
              <a:gd name="adj" fmla="val 5682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291840" y="3108960"/>
            <a:ext cx="2697480" cy="411480"/>
          </a:xfrm>
          <a:prstGeom prst="round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383280" y="310896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L5  |  + Gateway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3383280" y="3584448"/>
            <a:ext cx="25146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Nodes → coordinator (gateway) → cloud.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3383280" y="4206240"/>
            <a:ext cx="25146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383280" y="4261104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e.g. Agricultural WSN + gateway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217920" y="3108960"/>
            <a:ext cx="2697480" cy="1609344"/>
          </a:xfrm>
          <a:prstGeom prst="roundRect">
            <a:avLst>
              <a:gd name="adj" fmla="val 5682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6217920" y="3108960"/>
            <a:ext cx="2697480" cy="411480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309360" y="310896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L6  |  Multi-System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6309360" y="3584448"/>
            <a:ext cx="25146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Multiple independent systems with coordinated central cloud.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309360" y="4206240"/>
            <a:ext cx="25146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309360" y="4261104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e.g. Smart city integration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2011680" cy="292608"/>
          </a:xfrm>
          <a:prstGeom prst="roundRect">
            <a:avLst>
              <a:gd name="adj" fmla="val 15625"/>
            </a:avLst>
          </a:prstGeom>
          <a:solidFill>
            <a:srgbClr val="00B0F0"/>
          </a:solidFill>
          <a:ln w="12700">
            <a:solidFill>
              <a:srgbClr val="00B0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TOPIC 7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IoT Deployment Templates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8412480" cy="0"/>
          </a:xfrm>
          <a:prstGeom prst="line">
            <a:avLst/>
          </a:prstGeom>
          <a:noFill/>
          <a:ln w="19050">
            <a:solidFill>
              <a:srgbClr val="2E74B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489204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IoT and Applications (PEMRT525) | Module 1 | S5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503920" y="489204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65760" y="1298448"/>
            <a:ext cx="841248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298448"/>
            <a:ext cx="2377440" cy="694944"/>
          </a:xfrm>
          <a:prstGeom prst="round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298448"/>
            <a:ext cx="21945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Home Automation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880360" y="1481328"/>
            <a:ext cx="5760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Sensors → Local Gateway → Cloud → Mobile App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2103120"/>
            <a:ext cx="841248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2103120"/>
            <a:ext cx="2377440" cy="694944"/>
          </a:xfrm>
          <a:prstGeom prst="roundRect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103120"/>
            <a:ext cx="21945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 Energy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880360" y="2286000"/>
            <a:ext cx="5760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Meters → Aggregator → Utility Cloud → Analytics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2907792"/>
            <a:ext cx="841248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907792"/>
            <a:ext cx="2377440" cy="694944"/>
          </a:xfrm>
          <a:prstGeom prst="round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907792"/>
            <a:ext cx="21945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Industrial IoT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880360" y="3090672"/>
            <a:ext cx="5760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 Sensors → Edge Gateway → Industrial Cloud → SCADA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65760" y="3712464"/>
            <a:ext cx="841248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712464"/>
            <a:ext cx="2377440" cy="694944"/>
          </a:xfrm>
          <a:prstGeom prst="round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712464"/>
            <a:ext cx="21945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Connected Health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2880360" y="3895344"/>
            <a:ext cx="5760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Wearables → Smartphone Gateway → Healthcare Cloud → Doctor Dashboard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65760" y="457200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2E74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Data Flows from Physical World to Cloud to Users →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F4E7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457200"/>
            <a:ext cx="3657600" cy="3657600"/>
          </a:xfrm>
          <a:prstGeom prst="ellipse">
            <a:avLst/>
          </a:prstGeom>
          <a:solidFill>
            <a:srgbClr val="4A90D9">
              <a:alpha val="15000"/>
            </a:srgbClr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B0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 1 SUMMARY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1323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65760" y="1463040"/>
            <a:ext cx="274320" cy="274320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371600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IoT = Things + Connectivity + Intelligence; 7 key characteristics distinguish IoT systems.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65760" y="1956816"/>
            <a:ext cx="274320" cy="274320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865376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Architecture: 3-layer (Perception/Network/Application) or 5-layer (+ Processing + Business).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65760" y="2450592"/>
            <a:ext cx="274320" cy="274320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235915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Physical design: MCU, sensors, actuators, communication module, memory, power, I/O.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65760" y="2944368"/>
            <a:ext cx="274320" cy="274320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2852928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Functional blocks: Device, Resource, Communication, Services, Management, Security, Application.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65760" y="3438144"/>
            <a:ext cx="274320" cy="274320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3346704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Communication models: Request-Response, Pub-Sub, Push-Pull, Exclusive Pair.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365760" y="3931920"/>
            <a:ext cx="274320" cy="274320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3840480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Enabling technologies: WSN, Cloud, Big Data, Embedded Systems, RFID, IPv6/6LoWPAN.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365760" y="4425696"/>
            <a:ext cx="274320" cy="274320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4334256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IoT levels from standalone device (L1) to multi-system smart city integration (L6).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365760" y="489204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C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IoT and Applications (PEMRT525) | Module 1 | S5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503920" y="489204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9C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2011680" cy="292608"/>
          </a:xfrm>
          <a:prstGeom prst="roundRect">
            <a:avLst>
              <a:gd name="adj" fmla="val 15625"/>
            </a:avLst>
          </a:prstGeom>
          <a:solidFill>
            <a:srgbClr val="00B0F0"/>
          </a:solidFill>
          <a:ln w="12700">
            <a:solidFill>
              <a:srgbClr val="00B0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ESE PREP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 Focus &amp; References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8412480" cy="0"/>
          </a:xfrm>
          <a:prstGeom prst="line">
            <a:avLst/>
          </a:prstGeom>
          <a:noFill/>
          <a:ln w="19050">
            <a:solidFill>
              <a:srgbClr val="2E74B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489204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IoT and Applications (PEMRT525) | Module 1 | S5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503920" y="489204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65760" y="1298448"/>
            <a:ext cx="4160520" cy="2606040"/>
          </a:xfrm>
          <a:prstGeom prst="roundRect">
            <a:avLst>
              <a:gd name="adj" fmla="val 3509"/>
            </a:avLst>
          </a:prstGeom>
          <a:solidFill>
            <a:srgbClr val="EBF3FB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2920" y="1389888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 A – 3 Mark Questions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37947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Q1. Define IoT. List 4 characteristics.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94360" y="2112264"/>
            <a:ext cx="37947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Q2. Name the 7 IoT functional blocks.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4360" y="2441448"/>
            <a:ext cx="37947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Q3. List the 4 IoT communication models.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94360" y="2770632"/>
            <a:ext cx="37947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Q4. What are IoT enabling technologies?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94360" y="3099816"/>
            <a:ext cx="37947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Q5. Differentiate Request-Response and Pub-Sub.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94360" y="3429000"/>
            <a:ext cx="37947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Q6. What is the difference between physical and logical design?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09160" y="1298448"/>
            <a:ext cx="4069080" cy="2606040"/>
          </a:xfrm>
          <a:prstGeom prst="roundRect">
            <a:avLst>
              <a:gd name="adj" fmla="val 3509"/>
            </a:avLst>
          </a:prstGeom>
          <a:solidFill>
            <a:srgbClr val="EBF3FB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0" y="1389888"/>
            <a:ext cx="3794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 B – 9 Mark Questions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846320" y="1783080"/>
            <a:ext cx="38404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Q1. Explain 3-layer &amp; 5-layer architecture with diagrams.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46320" y="2112264"/>
            <a:ext cx="38404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Q2. Explain all 7 functional blocks with a block diagram.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46320" y="2441448"/>
            <a:ext cx="38404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Q3. Describe the 4 communication models with diagrams.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46320" y="2770632"/>
            <a:ext cx="38404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Q4. Explain IoT enabling technologies.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46320" y="3099816"/>
            <a:ext cx="38404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Q5. Explain IoT levels 1–6 with examples.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846320" y="3429000"/>
            <a:ext cx="38404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Q6. Describe physical design: IoT node components.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65760" y="4023360"/>
            <a:ext cx="8412480" cy="822960"/>
          </a:xfrm>
          <a:prstGeom prst="roundRect">
            <a:avLst>
              <a:gd name="adj" fmla="val 11111"/>
            </a:avLst>
          </a:prstGeom>
          <a:solidFill>
            <a:srgbClr val="FFF8E1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48640" y="409651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References: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48640" y="4361688"/>
            <a:ext cx="8092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Bahga &amp; Madisetti – Internet of Things (VPT, 2014, Ch.1-2)  |  Hanes et al. – IoT Fundamentals (Cisco Press, 2017)  |  Rajkamal – IoT: Architecture &amp; Design Principles (McGraw Hill, 2022)  |  NPTEL: https://onlinecourses.nptel.ac.in/noc22_cs53/preview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IoT and Applications - Module 1</dc:title>
  <dc:subject>PptxGenJS Presentation</dc:subject>
  <dc:creator>JECC</dc:creator>
  <cp:lastModifiedBy>JECC</cp:lastModifiedBy>
  <cp:revision>1</cp:revision>
  <dcterms:created xsi:type="dcterms:W3CDTF">2026-06-30T05:20:38Z</dcterms:created>
  <dcterms:modified xsi:type="dcterms:W3CDTF">2026-06-30T05:20:38Z</dcterms:modified>
</cp:coreProperties>
</file>